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09fb44858c4f00" /><Relationship Type="http://schemas.openxmlformats.org/officeDocument/2006/relationships/extended-properties" Target="/docProps/app.xml" Id="Rad9dbb2c1c2d4730" /><Relationship Type="http://schemas.openxmlformats.org/officeDocument/2006/relationships/officeDocument" Target="/ppt/presentation.xml" Id="Rfbf0bf14b83746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bf4967baa440a7"/>
  </p:sldMasterIdLst>
  <p:notesMasterIdLst>
    <p:notesMasterId xmlns:r="http://schemas.openxmlformats.org/officeDocument/2006/relationships" r:id="R05c5a6711b8b4a31"/>
  </p:notesMasterIdLst>
  <p:sldIdLst>
    <p:sldId xmlns:r="http://schemas.openxmlformats.org/officeDocument/2006/relationships" id="256" r:id="R641873b6f42f4c62"/>
    <p:sldId xmlns:r="http://schemas.openxmlformats.org/officeDocument/2006/relationships" id="257" r:id="R4e5c8a364bcd4218"/>
    <p:sldId xmlns:r="http://schemas.openxmlformats.org/officeDocument/2006/relationships" id="258" r:id="R0c3fcd7dd06644d5"/>
    <p:sldId xmlns:r="http://schemas.openxmlformats.org/officeDocument/2006/relationships" id="259" r:id="R4420ae06780d4c7b"/>
    <p:sldId xmlns:r="http://schemas.openxmlformats.org/officeDocument/2006/relationships" id="260" r:id="Rabc918e4480144c5"/>
    <p:sldId xmlns:r="http://schemas.openxmlformats.org/officeDocument/2006/relationships" id="261" r:id="Rc550b59d2ebd4a70"/>
    <p:sldId xmlns:r="http://schemas.openxmlformats.org/officeDocument/2006/relationships" id="262" r:id="Rf28b23cd724448eb"/>
    <p:sldId xmlns:r="http://schemas.openxmlformats.org/officeDocument/2006/relationships" id="263" r:id="Rf510e54f799a4f44"/>
    <p:sldId xmlns:r="http://schemas.openxmlformats.org/officeDocument/2006/relationships" id="264" r:id="R28fe7d01f92a4677"/>
    <p:sldId xmlns:r="http://schemas.openxmlformats.org/officeDocument/2006/relationships" id="265" r:id="Rd37eb20f54d543ea"/>
    <p:sldId xmlns:r="http://schemas.openxmlformats.org/officeDocument/2006/relationships" id="266" r:id="R980fe1c82c3f4439"/>
    <p:sldId xmlns:r="http://schemas.openxmlformats.org/officeDocument/2006/relationships" id="267" r:id="R63b683f8d5e24d25"/>
    <p:sldId xmlns:r="http://schemas.openxmlformats.org/officeDocument/2006/relationships" id="268" r:id="Rd9a8feee490d4817"/>
    <p:sldId xmlns:r="http://schemas.openxmlformats.org/officeDocument/2006/relationships" id="269" r:id="R161a56a57a1c4751"/>
    <p:sldId xmlns:r="http://schemas.openxmlformats.org/officeDocument/2006/relationships" id="270" r:id="Reef910bad25f40db"/>
    <p:sldId xmlns:r="http://schemas.openxmlformats.org/officeDocument/2006/relationships" id="271" r:id="R3ca58fa479c942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f4967baa440a7" /><Relationship Type="http://schemas.openxmlformats.org/officeDocument/2006/relationships/theme" Target="/ppt/theme/theme1.xml" Id="R71a1c36931b542b4" /><Relationship Type="http://schemas.openxmlformats.org/officeDocument/2006/relationships/notesMaster" Target="/ppt/notesMasters/notesMaster1.xml" Id="R05c5a6711b8b4a31" /><Relationship Type="http://schemas.openxmlformats.org/officeDocument/2006/relationships/presProps" Target="/ppt/presProps.xml" Id="R866ecf1053ae4393" /><Relationship Type="http://schemas.openxmlformats.org/officeDocument/2006/relationships/viewProps" Target="/ppt/viewProps.xml" Id="R39db7144776d440a" /><Relationship Type="http://schemas.openxmlformats.org/officeDocument/2006/relationships/tableStyles" Target="/ppt/tableStyles.xml" Id="R185992ed8fa1496c" /><Relationship Type="http://schemas.openxmlformats.org/officeDocument/2006/relationships/slide" Target="/ppt/slides/slide1.xml" Id="R641873b6f42f4c62" /><Relationship Type="http://schemas.openxmlformats.org/officeDocument/2006/relationships/slide" Target="/ppt/slides/slide2.xml" Id="R4e5c8a364bcd4218" /><Relationship Type="http://schemas.openxmlformats.org/officeDocument/2006/relationships/slide" Target="/ppt/slides/slide3.xml" Id="R0c3fcd7dd06644d5" /><Relationship Type="http://schemas.openxmlformats.org/officeDocument/2006/relationships/slide" Target="/ppt/slides/slide4.xml" Id="R4420ae06780d4c7b" /><Relationship Type="http://schemas.openxmlformats.org/officeDocument/2006/relationships/slide" Target="/ppt/slides/slide5.xml" Id="Rabc918e4480144c5" /><Relationship Type="http://schemas.openxmlformats.org/officeDocument/2006/relationships/slide" Target="/ppt/slides/slide6.xml" Id="Rc550b59d2ebd4a70" /><Relationship Type="http://schemas.openxmlformats.org/officeDocument/2006/relationships/slide" Target="/ppt/slides/slide7.xml" Id="Rf28b23cd724448eb" /><Relationship Type="http://schemas.openxmlformats.org/officeDocument/2006/relationships/slide" Target="/ppt/slides/slide8.xml" Id="Rf510e54f799a4f44" /><Relationship Type="http://schemas.openxmlformats.org/officeDocument/2006/relationships/slide" Target="/ppt/slides/slide9.xml" Id="R28fe7d01f92a4677" /><Relationship Type="http://schemas.openxmlformats.org/officeDocument/2006/relationships/slide" Target="/ppt/slides/slide10.xml" Id="Rd37eb20f54d543ea" /><Relationship Type="http://schemas.openxmlformats.org/officeDocument/2006/relationships/slide" Target="/ppt/slides/slide11.xml" Id="R980fe1c82c3f4439" /><Relationship Type="http://schemas.openxmlformats.org/officeDocument/2006/relationships/slide" Target="/ppt/slides/slide12.xml" Id="R63b683f8d5e24d25" /><Relationship Type="http://schemas.openxmlformats.org/officeDocument/2006/relationships/slide" Target="/ppt/slides/slide13.xml" Id="Rd9a8feee490d4817" /><Relationship Type="http://schemas.openxmlformats.org/officeDocument/2006/relationships/slide" Target="/ppt/slides/slide14.xml" Id="R161a56a57a1c4751" /><Relationship Type="http://schemas.openxmlformats.org/officeDocument/2006/relationships/slide" Target="/ppt/slides/slide15.xml" Id="Reef910bad25f40db" /><Relationship Type="http://schemas.openxmlformats.org/officeDocument/2006/relationships/slide" Target="/ppt/slides/slide16.xml" Id="R3ca58fa479c942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660ae7ee2eb43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Satellite Service">
  <a:themeElements>
    <a:clrScheme name="Satellite Service">
      <a:accent1>
        <a:srgbClr val="39D98A"/>
      </a:accent1>
      <a:accent2>
        <a:srgbClr val="48C7D8"/>
      </a:accent2>
      <a:accent3>
        <a:srgbClr val="E8B84A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atellite Serv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c9dc5c68c04ed5" /><Relationship Type="http://schemas.openxmlformats.org/officeDocument/2006/relationships/notesMaster" Target="/ppt/notesMasters/notesMaster1.xml" Id="Rd393d5fb7aad49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98e18b15874ec9" /><Relationship Type="http://schemas.openxmlformats.org/officeDocument/2006/relationships/notesMaster" Target="/ppt/notesMasters/notesMaster1.xml" Id="R16bc44832a6d44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f5a94169444371" /><Relationship Type="http://schemas.openxmlformats.org/officeDocument/2006/relationships/notesMaster" Target="/ppt/notesMasters/notesMaster1.xml" Id="Rc8aade8ecb8d4a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897c77dd884746" /><Relationship Type="http://schemas.openxmlformats.org/officeDocument/2006/relationships/notesMaster" Target="/ppt/notesMasters/notesMaster1.xml" Id="R0d813a728b9342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8f44db55c942e7" /><Relationship Type="http://schemas.openxmlformats.org/officeDocument/2006/relationships/notesMaster" Target="/ppt/notesMasters/notesMaster1.xml" Id="R82d9280518db44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ae14387de8422b" /><Relationship Type="http://schemas.openxmlformats.org/officeDocument/2006/relationships/notesMaster" Target="/ppt/notesMasters/notesMaster1.xml" Id="Ra3c69cf7837148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6e092b9e1b4334" /><Relationship Type="http://schemas.openxmlformats.org/officeDocument/2006/relationships/notesMaster" Target="/ppt/notesMasters/notesMaster1.xml" Id="R0f3ddcb12c0e4b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389d30484a4da7" /><Relationship Type="http://schemas.openxmlformats.org/officeDocument/2006/relationships/notesMaster" Target="/ppt/notesMasters/notesMaster1.xml" Id="R9022a9b102e24b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5c7125af874907" /><Relationship Type="http://schemas.openxmlformats.org/officeDocument/2006/relationships/notesMaster" Target="/ppt/notesMasters/notesMaster1.xml" Id="R51fce97ddf1f4a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0ca34568654ea4" /><Relationship Type="http://schemas.openxmlformats.org/officeDocument/2006/relationships/notesMaster" Target="/ppt/notesMasters/notesMaster1.xml" Id="Rdd8f3a3b21ad48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5e3ab65ec14224" /><Relationship Type="http://schemas.openxmlformats.org/officeDocument/2006/relationships/notesMaster" Target="/ppt/notesMasters/notesMaster1.xml" Id="Rc6f504cdb92c49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f975d3c1b5494f" /><Relationship Type="http://schemas.openxmlformats.org/officeDocument/2006/relationships/notesMaster" Target="/ppt/notesMasters/notesMaster1.xml" Id="Re69a4294f1ee43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5b434a67694ae5" /><Relationship Type="http://schemas.openxmlformats.org/officeDocument/2006/relationships/notesMaster" Target="/ppt/notesMasters/notesMaster1.xml" Id="R042819a993074c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79cbc200584798" /><Relationship Type="http://schemas.openxmlformats.org/officeDocument/2006/relationships/notesMaster" Target="/ppt/notesMasters/notesMaster1.xml" Id="R127f638f9b6e4d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703c15dac74349" /><Relationship Type="http://schemas.openxmlformats.org/officeDocument/2006/relationships/notesMaster" Target="/ppt/notesMasters/notesMaster1.xml" Id="Rf1426350f28f49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541a2c9f444e5c" /><Relationship Type="http://schemas.openxmlformats.org/officeDocument/2006/relationships/notesMaster" Target="/ppt/notesMasters/notesMaster1.xml" Id="R5f61f72d202f43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Открыть презентацию с постановки задачи: проект превращает разовые скрипты обработки снимков в воспроизводимый сервисный конвейер.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Подчеркнуть, что проблема не только в ИИ, а в инженерном конвейере вокруг данных ДЗЗ.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цепочку producer -&gt; MinIO -&gt; Kafka -&gt; Spark -&gt; PostgreSQL/MinIO -&gt; карта.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Задачи перечисляют то, что реально было реализовано в проекте.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удобен для короткого перечисления функциональности перед архитектурой.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Показать, что проект не только учебный: у него есть прикладные сценарии.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демонстрационный сценарий для защиты.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Сравнение нужно подавать спокойно: аналоги сильны в своих областях, но проект закрывает цель диплома.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Важно связать инструмент с назначением, а не просто перечислить технологии.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слайде объяснить, где проходит файл и где сохраняются промежуточные и конечные результаты.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Отдельно объяснить, почему данные ДЗЗ относятся к большим: объём растёт с площадью и разрешением.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График показывает линейную зависимость от числа тайлов/снимков. Перед финальной защитой стоит заменить демонстрационные значения фактическим прогоном.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Пояснить слои: тайлы снимка, маска снимка, скрытие конкретного слоя, скачивание shapefile.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является чек-листом демонстрации.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Закрепить мысль: главный результат — не одна модель, а воспроизводимая платформа обработки.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Завершить презентацию планом развития: проект уже работает как основа, которую можно масштабировать.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e419e7aad446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4CA560DC-0320-4FCF-AB47-53585B2CD3D7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D56504E0-5F58-4643-B981-DA56C92FF32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129441-9984-4A85-8958-B0C449AB46E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29A761-ADFE-4EBE-A621-6252F200735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2cdfbf66f2e496d" /><Relationship Type="http://schemas.openxmlformats.org/officeDocument/2006/relationships/slideLayout" Target="/ppt/slideLayouts/slideLayout2.xml" Id="R9f8bbf84542444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EFF02D-34D8-4C9D-B886-FB19C51F3D0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8bbf84542444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83aba627ed4d23" /><Relationship Type="http://schemas.openxmlformats.org/officeDocument/2006/relationships/notesSlide" Target="/ppt/notesSlides/notesSlide1.xml" Id="R4818339313944b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e5c809402048a6" /><Relationship Type="http://schemas.openxmlformats.org/officeDocument/2006/relationships/notesSlide" Target="/ppt/notesSlides/notesSlide2.xml" Id="Ra881b06561c148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e82f00367042b3" /><Relationship Type="http://schemas.openxmlformats.org/officeDocument/2006/relationships/notesSlide" Target="/ppt/notesSlides/notesSlide3.xml" Id="R3b80eaa6286945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54767fb49244ca" /><Relationship Type="http://schemas.openxmlformats.org/officeDocument/2006/relationships/notesSlide" Target="/ppt/notesSlides/notesSlide4.xml" Id="R0888f1d8430349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016e584cbd4971" /><Relationship Type="http://schemas.openxmlformats.org/officeDocument/2006/relationships/notesSlide" Target="/ppt/notesSlides/notesSlide5.xml" Id="R41e03618410847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c8599ea33a48b4" /><Relationship Type="http://schemas.openxmlformats.org/officeDocument/2006/relationships/notesSlide" Target="/ppt/notesSlides/notesSlide6.xml" Id="R918f18328dd640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9862f3205b4c78" /><Relationship Type="http://schemas.openxmlformats.org/officeDocument/2006/relationships/notesSlide" Target="/ppt/notesSlides/notesSlide7.xml" Id="Ra2172155d17c4c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3f5b2192d0491e" /><Relationship Type="http://schemas.openxmlformats.org/officeDocument/2006/relationships/notesSlide" Target="/ppt/notesSlides/notesSlide8.xml" Id="R080f804268344a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06612cb3d34507" /><Relationship Type="http://schemas.openxmlformats.org/officeDocument/2006/relationships/notesSlide" Target="/ppt/notesSlides/notesSlide9.xml" Id="R72099cf33ace46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095eef65974b88" /><Relationship Type="http://schemas.openxmlformats.org/officeDocument/2006/relationships/notesSlide" Target="/ppt/notesSlides/notesSlide10.xml" Id="Rce81431881f44e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4207a31fc94242" /><Relationship Type="http://schemas.openxmlformats.org/officeDocument/2006/relationships/notesSlide" Target="/ppt/notesSlides/notesSlide11.xml" Id="Rb637199b04bd48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df2cc5152746ec" /><Relationship Type="http://schemas.openxmlformats.org/officeDocument/2006/relationships/chart" Target="/ppt/slides/charts/chart1.xml" Id="R1d91f20921fc4ad9" /><Relationship Type="http://schemas.openxmlformats.org/officeDocument/2006/relationships/notesSlide" Target="/ppt/notesSlides/notesSlide12.xml" Id="R58866fe53c6244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76cec7ee664526" /><Relationship Type="http://schemas.openxmlformats.org/officeDocument/2006/relationships/notesSlide" Target="/ppt/notesSlides/notesSlide13.xml" Id="R8459e0ed27a042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8babeb40324580" /><Relationship Type="http://schemas.openxmlformats.org/officeDocument/2006/relationships/notesSlide" Target="/ppt/notesSlides/notesSlide14.xml" Id="R5ac660c3531a47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30f96b346d4297" /><Relationship Type="http://schemas.openxmlformats.org/officeDocument/2006/relationships/notesSlide" Target="/ppt/notesSlides/notesSlide15.xml" Id="Rddc1fcc7636942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13b80b79d74038" /><Relationship Type="http://schemas.openxmlformats.org/officeDocument/2006/relationships/notesSlide" Target="/ppt/notesSlides/notesSlide16.xml" Id="R550f3c772ba74c7d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07120F"/>
                </a:solidFill>
                <a:latin typeface="Poppins"/>
                <a:ea typeface="Poppins"/>
                <a:cs typeface="Poppins"/>
              </a:rPr>
              <a:t>Время обработки растёт почти линейно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07120F"/>
              </a:solidFill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lineChart>
        <c:grouping val="standard"/>
        <c:varyColors val="0"/>
        <c:ser>
          <c:idx val="0"/>
          <c:order val="0"/>
          <c:tx>
            <c:v>последовательная обработка, мин</c:v>
          </c:tx>
          <c:spPr>
            <a:ln xmlns:a="http://schemas.openxmlformats.org/drawingml/2006/main" w="28575">
              <a:solidFill>
                <a:srgbClr val="39D98A"/>
              </a:solidFill>
              <a:prstDash val="solid"/>
            </a:ln>
          </c:spPr>
          <c:marker/>
          <c:cat>
            <c:numLit>
              <c:formatCode/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/>
              <c:ptCount val="6"/>
              <c:pt idx="0">
                <c:v>4.8</c:v>
              </c:pt>
              <c:pt idx="1">
                <c:v>9.5</c:v>
              </c:pt>
              <c:pt idx="2">
                <c:v>14.1</c:v>
              </c:pt>
              <c:pt idx="3">
                <c:v>18.8</c:v>
              </c:pt>
              <c:pt idx="4">
                <c:v>23.4</c:v>
              </c:pt>
              <c:pt idx="5">
                <c:v>27.9</c:v>
              </c:pt>
            </c:numLit>
          </c:val>
          <c:smooth val="0"/>
        </c:ser>
        <c:ser>
          <c:idx val="1"/>
          <c:order val="1"/>
          <c:tx>
            <c:v>3 worker, мин</c:v>
          </c:tx>
          <c:spPr>
            <a:ln xmlns:a="http://schemas.openxmlformats.org/drawingml/2006/main" w="28575">
              <a:solidFill>
                <a:srgbClr val="48C7D8"/>
              </a:solidFill>
              <a:prstDash val="solid"/>
            </a:ln>
          </c:spPr>
          <c:marker/>
          <c:cat>
            <c:numLit>
              <c:formatCode/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/>
              <c:ptCount val="6"/>
              <c:pt idx="0">
                <c:v>4.9</c:v>
              </c:pt>
              <c:pt idx="1">
                <c:v>5.2</c:v>
              </c:pt>
              <c:pt idx="2">
                <c:v>5.6</c:v>
              </c:pt>
              <c:pt idx="3">
                <c:v>9.7</c:v>
              </c:pt>
              <c:pt idx="4">
                <c:v>10.4</c:v>
              </c:pt>
              <c:pt idx="5">
                <c:v>10.9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overlay val="0"/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количество снимков</a:t>
                </a:r>
              </a:p>
            </c:rich>
          </c:tx>
        </c:title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overlay val="0"/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минуты</a:t>
                </a:r>
              </a:p>
            </c:rich>
          </c:tx>
        </c:title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3EFE3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BB641-73E6-4411-8AF5-B6E93B2D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95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26E0A-4B3C-43F7-9528-64AC00BC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86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0F36E-49B9-435D-97A3-0F0B4762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3335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3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715E9-6316-4E82-8E34-5B526852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4C28C-ADFA-47C2-940E-C625A2E7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CCC0C-F784-44CA-8B08-A01108E8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E2A06-7614-4F36-BA3F-B5A5AC66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37313-2F91-49F1-8F6C-E8F038A3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A54A2-CD9B-478A-83AD-300D4949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E892F-114C-4B28-9F29-B30B6CD2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3D869-FEFB-41F8-A962-7CCE9D54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57200"/>
            <a:ext cx="112014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4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DC757-BB5E-4E01-BDD6-C56F8937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1104900"/>
            <a:ext cx="3371850" cy="3371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E36"/>
          </a:solidFill>
          <a:ln xmlns:a="http://schemas.openxmlformats.org/drawingml/2006/main" w="19050">
            <a:solidFill>
              <a:srgbClr val="39D9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224BB-D6F2-419D-981C-177AC734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1485900"/>
            <a:ext cx="2609850" cy="2609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915"/>
          </a:solidFill>
          <a:ln xmlns:a="http://schemas.openxmlformats.org/drawingml/2006/main" w="14288">
            <a:solidFill>
              <a:srgbClr val="48C7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90D28-5E43-4BA3-A6B3-EDC7A30B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625" y="27051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66AC5-90CD-4B76-841F-4ECDD403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3050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AA1D7-5215-48F6-BA39-AD56B8D0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83820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D98A"/>
                </a:solidFill>
              </a:defRPr>
            </a:pPr>
            <a:r>
              <a:rPr sz="1125" b="1">
                <a:solidFill>
                  <a:srgbClr val="39D98A"/>
                </a:solidFill>
              </a:rPr>
              <a:t>ДИПЛОМНЫЙ ПРОЕКТ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B5757-2B8F-44D1-A026-10FAAA12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352550"/>
            <a:ext cx="6858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5EA"/>
                </a:solidFill>
              </a:defRPr>
            </a:pPr>
            <a:r>
              <a:rPr sz="3900" b="1">
                <a:solidFill>
                  <a:srgbClr val="F8F5EA"/>
                </a:solidFill>
              </a:rPr>
              <a:t>Сервис обработки спутниковых снимков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7ECBF-3807-4FDE-9A48-C2491A65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028950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7BA"/>
                </a:solidFill>
              </a:defRPr>
            </a:pPr>
            <a:r>
              <a:rPr sz="1500" b="0">
                <a:solidFill>
                  <a:srgbClr val="B7C7BA"/>
                </a:solidFill>
              </a:rPr>
              <a:t>Автоматическая загрузка, параллельная обработка GeoTIFF, сборка масок и отображение результатов на веб-карте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783D5-D48A-4034-9825-522DABF6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476750"/>
            <a:ext cx="2266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7D47D-330E-49A3-815C-DEE456B0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6482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20F"/>
                </a:solidFill>
              </a:defRPr>
            </a:pPr>
            <a:r>
              <a:rPr sz="2550" b="1">
                <a:solidFill>
                  <a:srgbClr val="07120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67535F-7C2A-4D00-A1B0-FEBA24AF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51435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B33"/>
                </a:solidFill>
              </a:defRPr>
            </a:pPr>
            <a:r>
              <a:rPr sz="1050" b="0">
                <a:solidFill>
                  <a:srgbClr val="243B33"/>
                </a:solidFill>
              </a:rPr>
              <a:t>Spark worker для параллельной обработки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1F084-4E88-4442-9C96-97BC9614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556260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41F71E-EF9C-4192-A8DB-56972BC4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4476750"/>
            <a:ext cx="2266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F2EF1C-C991-4E6F-8D6A-D3F3A3D4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46482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20F"/>
                </a:solidFill>
              </a:defRPr>
            </a:pPr>
            <a:r>
              <a:rPr sz="2550" b="1">
                <a:solidFill>
                  <a:srgbClr val="07120F"/>
                </a:solidFill>
              </a:rPr>
              <a:t>S3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20013-B4B7-42B1-A5F8-9225D799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51435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B33"/>
                </a:solidFill>
              </a:defRPr>
            </a:pPr>
            <a:r>
              <a:rPr sz="1050" b="0">
                <a:solidFill>
                  <a:srgbClr val="243B33"/>
                </a:solidFill>
              </a:rPr>
              <a:t>MinIO хранит raw и processed данные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0DFBCA-6342-4D93-9A0A-97AD1B02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556260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FF4DF4-8F2B-49F0-B8B9-EA67A196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4476750"/>
            <a:ext cx="2266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9D1910-D8E4-40DD-AC68-ABB9D3AB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46482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20F"/>
                </a:solidFill>
              </a:defRPr>
            </a:pPr>
            <a:r>
              <a:rPr sz="2550" b="1">
                <a:solidFill>
                  <a:srgbClr val="07120F"/>
                </a:solidFill>
              </a:rPr>
              <a:t>GeoJSON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0FDD01-A984-42FC-91A6-2ED4B090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51435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B33"/>
                </a:solidFill>
              </a:defRPr>
            </a:pPr>
            <a:r>
              <a:rPr sz="1050" b="0">
                <a:solidFill>
                  <a:srgbClr val="243B33"/>
                </a:solidFill>
              </a:rPr>
              <a:t>карта получает маски и тайлы через 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88CDFD-3CFE-46D2-91F1-1A60CFD8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556260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2699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114B5-071E-4AFD-B343-A2C8AFF4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95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FFB2F-3EB0-46F6-96F1-EFE872D4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86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EB935-8718-4871-B28D-20D421DF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3335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3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C8C65-7BD6-4C7D-A753-D754B77C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A4450-442E-44B4-ADDC-92357F78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808E7-844E-4E64-A255-E5B1B19F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70D8A-AB89-463A-9539-EDC96AA2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78077-C191-4633-8B8C-871952F2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82AAB-8FB1-47CB-8EFA-57D6AFAC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20060-14DF-422A-927E-43811273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CEB6C-A930-4B9F-A6B2-3E14CB3B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57200"/>
            <a:ext cx="112014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4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839BB-FEE7-4E04-95D8-E0EE57D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</a:defRPr>
            </a:pPr>
            <a:r>
              <a:rPr sz="975" b="1">
                <a:solidFill>
                  <a:srgbClr val="39D98A"/>
                </a:solidFill>
              </a:rPr>
              <a:t>ПРОБЛЕМА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C6E9F-61DE-4B88-B012-FEF89E8B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00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7BA"/>
                </a:solidFill>
              </a:defRPr>
            </a:pPr>
            <a:r>
              <a:rPr sz="975" b="1">
                <a:solidFill>
                  <a:srgbClr val="B7C7BA"/>
                </a:solidFill>
              </a:rPr>
              <a:t>02 /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33454-BC45-47DA-ADDD-2907759B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5F7CB-9E24-441B-91F4-53008689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144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5EA"/>
                </a:solidFill>
              </a:defRPr>
            </a:pPr>
            <a:r>
              <a:rPr sz="2925" b="1">
                <a:solidFill>
                  <a:srgbClr val="F8F5EA"/>
                </a:solidFill>
              </a:rPr>
              <a:t>Почему задача актуальна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9E311-DF78-43D4-8807-0E3DE9DA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BA"/>
                </a:solidFill>
              </a:defRPr>
            </a:pPr>
            <a:r>
              <a:rPr sz="1350" b="0">
                <a:solidFill>
                  <a:srgbClr val="B7C7BA"/>
                </a:solidFill>
              </a:rPr>
              <a:t>Спутниковые данные полезны, но их объём и формат быстро превращают обработку в ручной и медленный процесс.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839E3-BA17-4CF1-B0F4-35E4A2F0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771900"/>
            <a:ext cx="32766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5B9913-59DA-424C-84B4-752EC2E3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771900"/>
            <a:ext cx="6667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432FC-C918-440B-BBD0-AFF051A0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9433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</a:defRPr>
            </a:pPr>
            <a:r>
              <a:rPr sz="1275" b="1">
                <a:solidFill>
                  <a:srgbClr val="39D98A"/>
                </a:solidFill>
              </a:rPr>
              <a:t>Большие GeoTIFF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35C87-EC23-47DE-8D77-13684F5E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3053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Один снимок хранит растровые значения, геопривязку и проекцию; при масштабе 10 м объём быстро растёт.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946330-8541-4040-8778-7318C38C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3771900"/>
            <a:ext cx="32766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BD9E92-8AE4-4688-B98F-77BAA9AC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3771900"/>
            <a:ext cx="6667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97ED4A-9968-4D77-B673-555E6C29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9433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7D8"/>
                </a:solidFill>
              </a:defRPr>
            </a:pPr>
            <a:r>
              <a:rPr sz="1275" b="1">
                <a:solidFill>
                  <a:srgbClr val="48C7D8"/>
                </a:solidFill>
              </a:rPr>
              <a:t>Ручные операции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D606B-9FCE-4F6F-81F4-77F0ED87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43053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Нужно скачивать данные, резать их на фрагменты, запускать модель, собирать маски и сохранять результат.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711D43-9427-4CE8-89D5-2B316F8E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771900"/>
            <a:ext cx="32766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C2F464-F082-4F2C-A504-D1A10444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771900"/>
            <a:ext cx="6667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71B86-61D7-4620-AE69-E73690E1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39433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B84A"/>
                </a:solidFill>
              </a:defRPr>
            </a:pPr>
            <a:r>
              <a:rPr sz="1275" b="1">
                <a:solidFill>
                  <a:srgbClr val="E8B84A"/>
                </a:solidFill>
              </a:rPr>
              <a:t>Сложная выдача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68D312-0E18-4856-B5B3-FB7AD7DF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43053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Пользователю нужен не набор временных файлов, а карта, GeoJSON и отдельный shapefile по каждому снимку.</a:t>
            </a:r>
          </a:p>
        </p:txBody>
      </p:sp>
    </p:spTree>
    <p:extLst>
      <p:ext uri="{BB962C8B-B14F-4D97-AF65-F5344CB8AC3E}">
        <p14:creationId xmlns:p14="http://schemas.microsoft.com/office/powerpoint/2010/main" val="905530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AB719-39F7-4D08-911B-A5F0688C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95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3E624-1E4A-474F-BDC1-67D7A5F9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86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2341D-5681-4051-9E22-0FC91E32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3335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3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88708-83D1-4086-9D0E-39A8DDCC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F3C96-4254-445C-B0A9-AA84852A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D5D25-2B0F-4B40-B087-124E27CC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33ED5-6BE5-49C6-A943-1CDCBB1A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38006-F6E5-4B68-A469-956C7C8A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62EB0-54F0-4105-85D6-962F436A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17A26-4974-4D35-970A-6FF4339D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1BF12-D849-482A-9D67-2894577C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57200"/>
            <a:ext cx="112014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4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2B5E3-427B-49C9-BEF7-52CD0B73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</a:defRPr>
            </a:pPr>
            <a:r>
              <a:rPr sz="975" b="1">
                <a:solidFill>
                  <a:srgbClr val="39D98A"/>
                </a:solidFill>
              </a:rPr>
              <a:t>РЕШЕНИЕ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B140B-866D-4CC0-A04C-6AE52013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00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7BA"/>
                </a:solidFill>
              </a:defRPr>
            </a:pPr>
            <a:r>
              <a:rPr sz="975" b="1">
                <a:solidFill>
                  <a:srgbClr val="B7C7BA"/>
                </a:solidFill>
              </a:rPr>
              <a:t>03 /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982EC-6530-49FA-871E-951ECF8B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0B91B7-FE5A-4E80-A39E-4B948BAD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144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5EA"/>
                </a:solidFill>
              </a:defRPr>
            </a:pPr>
            <a:r>
              <a:rPr sz="2925" b="1">
                <a:solidFill>
                  <a:srgbClr val="F8F5EA"/>
                </a:solidFill>
              </a:rPr>
              <a:t>Что делает разработанный сервис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D6B63-5126-4985-92F2-C9AB9F9D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BA"/>
                </a:solidFill>
              </a:defRPr>
            </a:pPr>
            <a:r>
              <a:rPr sz="1350" b="0">
                <a:solidFill>
                  <a:srgbClr val="B7C7BA"/>
                </a:solidFill>
              </a:rPr>
              <a:t>Система автоматически принимает снимки, распределяет обработку и публикует результат в формате, удобном для GIS-анализа.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0D143-A949-4495-92E0-3A2535EF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876550"/>
            <a:ext cx="1181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2A24"/>
          </a:solidFill>
          <a:ln xmlns:a="http://schemas.openxmlformats.org/drawingml/2006/main" w="11430">
            <a:solidFill>
              <a:srgbClr val="39D9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BF63A-95D1-4946-A8A1-E275ABF1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04800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15180-BEB3-4E0C-B190-F6C974BC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3048000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7261E-80E7-4AD3-8D52-11A195A6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2876550"/>
            <a:ext cx="1181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53A33"/>
          </a:solidFill>
          <a:ln xmlns:a="http://schemas.openxmlformats.org/drawingml/2006/main" w="11430">
            <a:solidFill>
              <a:srgbClr val="48C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1768CA-AAA2-44A9-A3D9-656B8AB3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3600" y="304800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producer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2156C-3755-465E-B5F1-E56D6CD5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3048000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D5EB3-1943-43F3-BD31-87C5523E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876550"/>
            <a:ext cx="1181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2A24"/>
          </a:solidFill>
          <a:ln xmlns:a="http://schemas.openxmlformats.org/drawingml/2006/main" w="11430">
            <a:solidFill>
              <a:srgbClr val="39D9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301008-FD59-4AAE-A9E6-F84CD8FF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3300" y="304800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MinIO raw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2D2739-7B87-47B3-A65F-A9C80E1F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3048000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6DEAC0-720B-4064-BF64-FB2B5179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2876550"/>
            <a:ext cx="1181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53A33"/>
          </a:solidFill>
          <a:ln xmlns:a="http://schemas.openxmlformats.org/drawingml/2006/main" w="11430">
            <a:solidFill>
              <a:srgbClr val="48C7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ED4BCB-6FB7-4403-B580-E3FEBEE3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04800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Kafka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C18E7A-5E2B-4E72-B5F8-67BF2DF2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3048000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6C4BD3-FC72-4D83-A04A-F22BE24B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876550"/>
            <a:ext cx="1181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2A24"/>
          </a:solidFill>
          <a:ln xmlns:a="http://schemas.openxmlformats.org/drawingml/2006/main" w="11430">
            <a:solidFill>
              <a:srgbClr val="39D9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77FD4A-0C7F-4B92-8FC5-9294EEB6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304800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Spark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8069BA-CFA6-4EE6-8190-CD110ED3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3048000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DAC8B4-EF7C-4B01-BBE2-8E31BD69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2876550"/>
            <a:ext cx="1181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53A33"/>
          </a:solidFill>
          <a:ln xmlns:a="http://schemas.openxmlformats.org/drawingml/2006/main" w="11430">
            <a:solidFill>
              <a:srgbClr val="48C7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C55CF3-48BE-4B57-B171-96F64D9B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304800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MinIO processed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360260-E0F7-4D52-BF02-FD5338B7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3048000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103DD8-6D1A-46D0-9079-DF428967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2876550"/>
            <a:ext cx="1181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2A24"/>
          </a:solidFill>
          <a:ln xmlns:a="http://schemas.openxmlformats.org/drawingml/2006/main" w="11430">
            <a:solidFill>
              <a:srgbClr val="39D9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F21FBB-70DD-40DC-9391-EDC6F341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304800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PostgreSQL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FEEC90-D363-4802-89FD-427336A9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3200" y="3048000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6CF2DA-2CEE-473E-8488-6E223F7D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2876550"/>
            <a:ext cx="1181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53A33"/>
          </a:solidFill>
          <a:ln xmlns:a="http://schemas.openxmlformats.org/drawingml/2006/main" w="11430">
            <a:solidFill>
              <a:srgbClr val="48C7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0B73A7-DF4E-4BE3-97CF-DC434099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1800" y="304800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FastAPI map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031992-F9C7-406E-B037-781ADA0E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45770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5EE6B3-CFA8-4CF9-914A-C351F962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4577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1250E4-52B4-414A-B2FB-F9D0861C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6291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</a:defRPr>
            </a:pPr>
            <a:r>
              <a:rPr sz="1275" b="1">
                <a:solidFill>
                  <a:srgbClr val="39D98A"/>
                </a:solidFill>
              </a:rPr>
              <a:t>Автоматизация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5E1B35-7E0A-4F01-A4F5-C98DA039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991100"/>
            <a:ext cx="2724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Файл попадает в data/, дальше сервис сам загружает его в MinIO и создаёт событие Kafka.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95CC9A-D05E-4640-BCAA-9168647A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445770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B756BC-EFDB-4255-A695-89990843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44577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370D1E-AA15-4807-AE9D-0EB260DD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46291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7D8"/>
                </a:solidFill>
              </a:defRPr>
            </a:pPr>
            <a:r>
              <a:rPr sz="1275" b="1">
                <a:solidFill>
                  <a:srgbClr val="48C7D8"/>
                </a:solidFill>
              </a:rPr>
              <a:t>Параллельность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153A94-3214-42AE-B89D-6AB9DC3F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4991100"/>
            <a:ext cx="2724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Spark запускает отдельные задачи обработки снимков и использует 3 worker-контейнера.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C33353-480A-496D-B97F-950A3DD6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445770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D89A7B-9610-4B38-B062-AAE468B4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44577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8C24BD-898E-48CD-82B4-2EF04A03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46291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B84A"/>
                </a:solidFill>
              </a:defRPr>
            </a:pPr>
            <a:r>
              <a:rPr sz="1275" b="1">
                <a:solidFill>
                  <a:srgbClr val="E8B84A"/>
                </a:solidFill>
              </a:rPr>
              <a:t>Готовый результат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BBF04D-973F-43F4-8318-5F7326DC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4991100"/>
            <a:ext cx="2724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Тайлы, маски, shapefile и метаданные доступны через веб-карту и API.</a:t>
            </a:r>
          </a:p>
        </p:txBody>
      </p:sp>
    </p:spTree>
    <p:extLst>
      <p:ext uri="{BB962C8B-B14F-4D97-AF65-F5344CB8AC3E}">
        <p14:creationId xmlns:p14="http://schemas.microsoft.com/office/powerpoint/2010/main" val="277170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AFEC9-8146-450F-A9BB-B6D8E138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95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8EE55-3D37-4F04-A361-16745282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86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7E360-1388-4E6B-A28A-AE9DF6AC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3335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3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E36FF-AA34-41F4-92A0-C810FC55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EB5C7-5CFD-4074-A57E-5E6E08A7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5BA82-4665-4958-B667-5396BD82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81E25-2FE8-48DF-BBDA-9EA5947F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A046A-1D8F-4D38-A5D8-AA99282C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10735-AE55-4042-A47C-E7832955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2FE23-7042-4EFE-889D-85B9C8C1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4FBAA-8D5D-497F-BE16-6A64488C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57200"/>
            <a:ext cx="112014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4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DC167-DE21-4262-9940-A453528F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</a:defRPr>
            </a:pPr>
            <a:r>
              <a:rPr sz="975" b="1">
                <a:solidFill>
                  <a:srgbClr val="39D98A"/>
                </a:solidFill>
              </a:rPr>
              <a:t>ЦЕЛЬ И ЗАДАЧИ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D0566-71F8-45F6-85F1-AEADD2BA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00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7BA"/>
                </a:solidFill>
              </a:defRPr>
            </a:pPr>
            <a:r>
              <a:rPr sz="975" b="1">
                <a:solidFill>
                  <a:srgbClr val="B7C7BA"/>
                </a:solidFill>
              </a:rPr>
              <a:t>04 /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92877-22EB-4714-8813-E3B71503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6B1A6-4CC7-4770-983B-B7C82277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144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5EA"/>
                </a:solidFill>
              </a:defRPr>
            </a:pPr>
            <a:r>
              <a:rPr sz="2925" b="1">
                <a:solidFill>
                  <a:srgbClr val="F8F5EA"/>
                </a:solidFill>
              </a:rPr>
              <a:t>Цель проекта и инженерные задачи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2C5D0-A640-4243-9C36-AF959455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BA"/>
                </a:solidFill>
              </a:defRPr>
            </a:pPr>
            <a:r>
              <a:rPr sz="1350" b="0">
                <a:solidFill>
                  <a:srgbClr val="B7C7BA"/>
                </a:solidFill>
              </a:rPr>
              <a:t>Цель: разработать сервис, который превращает спутниковый GeoTIFF в управляемые слои карты и векторную маску.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32C0D-9070-4CE5-85A6-1726FE20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819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73C9F-D263-4747-B877-85C14DBB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8956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0F"/>
                </a:solidFill>
              </a:defRPr>
            </a:pPr>
            <a:r>
              <a:rPr sz="1050" b="1">
                <a:solidFill>
                  <a:srgbClr val="07120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B60E2D-04D3-4730-B996-52537119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800350"/>
            <a:ext cx="4324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5EA"/>
                </a:solidFill>
              </a:defRPr>
            </a:pPr>
            <a:r>
              <a:rPr sz="1275" b="0">
                <a:solidFill>
                  <a:srgbClr val="F8F5EA"/>
                </a:solidFill>
              </a:rPr>
              <a:t>оставить минимальный стек: Spark, MinIO, PostgreSQL, Kafka и FastAPI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F544F-9088-4CE7-902D-617CA82D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819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07816-326C-4B8F-8407-86725B64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8956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0F"/>
                </a:solidFill>
              </a:defRPr>
            </a:pPr>
            <a:r>
              <a:rPr sz="1050" b="1">
                <a:solidFill>
                  <a:srgbClr val="07120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9AE6B-D155-4AFB-A54D-2B11B562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800350"/>
            <a:ext cx="4324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5EA"/>
                </a:solidFill>
              </a:defRPr>
            </a:pPr>
            <a:r>
              <a:rPr sz="1275" b="0">
                <a:solidFill>
                  <a:srgbClr val="F8F5EA"/>
                </a:solidFill>
              </a:rPr>
              <a:t>реализовать загрузку GeoTIFF в объектное хранилище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AF9CBA-2008-464E-A314-E562736A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657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B62106-E969-47AC-A5D8-68AEBCAC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733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0F"/>
                </a:solidFill>
              </a:defRPr>
            </a:pPr>
            <a:r>
              <a:rPr sz="1050" b="1">
                <a:solidFill>
                  <a:srgbClr val="07120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DBF89B-D276-46C9-B259-8C8B56BC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638550"/>
            <a:ext cx="4324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5EA"/>
                </a:solidFill>
              </a:defRPr>
            </a:pPr>
            <a:r>
              <a:rPr sz="1275" b="0">
                <a:solidFill>
                  <a:srgbClr val="F8F5EA"/>
                </a:solidFill>
              </a:rPr>
              <a:t>распараллелить обработку нескольких снимков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5230C8-08B0-425F-990A-4BCB7EF2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657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AB559F-D4E3-4339-927A-F1D464B0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733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0F"/>
                </a:solidFill>
              </a:defRPr>
            </a:pPr>
            <a:r>
              <a:rPr sz="1050" b="1">
                <a:solidFill>
                  <a:srgbClr val="07120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A4F7E1-2013-40AC-B164-6E45B658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3638550"/>
            <a:ext cx="4324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5EA"/>
                </a:solidFill>
              </a:defRPr>
            </a:pPr>
            <a:r>
              <a:rPr sz="1275" b="0">
                <a:solidFill>
                  <a:srgbClr val="F8F5EA"/>
                </a:solidFill>
              </a:rPr>
              <a:t>сохранять тайлы, маски, shapefile и статусы обработки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739D17-B66D-46BC-94DD-B6B13478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BDD307-B8A2-43DF-8CD7-C9ACC2D1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572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0F"/>
                </a:solidFill>
              </a:defRPr>
            </a:pPr>
            <a:r>
              <a:rPr sz="1050" b="1">
                <a:solidFill>
                  <a:srgbClr val="07120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CBD818-750C-43A0-8A38-AAE2CC5A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4476750"/>
            <a:ext cx="4324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5EA"/>
                </a:solidFill>
              </a:defRPr>
            </a:pPr>
            <a:r>
              <a:rPr sz="1275" b="0">
                <a:solidFill>
                  <a:srgbClr val="F8F5EA"/>
                </a:solidFill>
              </a:rPr>
              <a:t>сделать веб-карту для просмотра и скачивания результатов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69546B-4870-4FC9-9879-AF84CCF0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42E189-C6BD-42F5-BD1C-E5B7A616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4572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0F"/>
                </a:solidFill>
              </a:defRPr>
            </a:pPr>
            <a:r>
              <a:rPr sz="1050" b="1">
                <a:solidFill>
                  <a:srgbClr val="07120F"/>
                </a:solidFill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61F08B-0F3E-4434-867F-51827BFA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4476750"/>
            <a:ext cx="4324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5EA"/>
                </a:solidFill>
              </a:defRPr>
            </a:pPr>
            <a:r>
              <a:rPr sz="1275" b="0">
                <a:solidFill>
                  <a:srgbClr val="F8F5EA"/>
                </a:solidFill>
              </a:rPr>
              <a:t>оставить место для будущей ИИ-обработки снимков</a:t>
            </a:r>
          </a:p>
        </p:txBody>
      </p:sp>
    </p:spTree>
    <p:extLst>
      <p:ext uri="{BB962C8B-B14F-4D97-AF65-F5344CB8AC3E}">
        <p14:creationId xmlns:p14="http://schemas.microsoft.com/office/powerpoint/2010/main" val="2080616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F3D49-7B5C-457B-AC6A-10BBCF92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95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5F77C-B0B1-4809-A397-B55F2E18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86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138C9-CF73-406E-AAB4-3F1FDDE2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3335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3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27456-1A27-497B-A88C-533DE4EA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9C8E6-362D-40D5-83A2-C68360FC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F4DC3-47EB-4441-8C7E-1989861A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8BF6E-7F34-4F76-B5AD-DA20FEE7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5EBB6-6048-4B9F-A241-4CA2FC62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BD7BA-F6D1-49F6-BEED-9C7FF705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D8EDC-3596-4B37-92BE-164E2BF0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8580E-CFFA-4F79-AA7B-1D46EFEB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57200"/>
            <a:ext cx="112014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4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FAF9E-8D73-46A9-AD64-435DAE0F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</a:defRPr>
            </a:pPr>
            <a:r>
              <a:rPr sz="975" b="1">
                <a:solidFill>
                  <a:srgbClr val="39D98A"/>
                </a:solidFill>
              </a:rPr>
              <a:t>ФУНКЦИИ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EDADE-B6B4-4E32-A5D6-E4319433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00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7BA"/>
                </a:solidFill>
              </a:defRPr>
            </a:pPr>
            <a:r>
              <a:rPr sz="975" b="1">
                <a:solidFill>
                  <a:srgbClr val="B7C7BA"/>
                </a:solidFill>
              </a:rPr>
              <a:t>05 /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712D8-B01E-4937-86E6-9889AEC2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E9411C-85D0-4F89-A123-D8487B4B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144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5EA"/>
                </a:solidFill>
              </a:defRPr>
            </a:pPr>
            <a:r>
              <a:rPr sz="2925" b="1">
                <a:solidFill>
                  <a:srgbClr val="F8F5EA"/>
                </a:solidFill>
              </a:rPr>
              <a:t>Основные функции системы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9012F5-A727-4424-BFDD-2FF9A549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BA"/>
                </a:solidFill>
              </a:defRPr>
            </a:pPr>
            <a:r>
              <a:rPr sz="1350" b="0">
                <a:solidFill>
                  <a:srgbClr val="B7C7BA"/>
                </a:solidFill>
              </a:rPr>
              <a:t>Сервис закрывает полный цикл: от получения снимка до отображения результата на карте.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E53B7-A0EC-4334-93F9-35FF9EED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895600"/>
            <a:ext cx="3257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5B2B5-4D1A-42C6-A895-6D202C28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8956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0066E-9BB0-4A12-B865-5450B86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30670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</a:defRPr>
            </a:pPr>
            <a:r>
              <a:rPr sz="1275" b="1">
                <a:solidFill>
                  <a:srgbClr val="39D98A"/>
                </a:solidFill>
              </a:rPr>
              <a:t>Загрузка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D0CE8-4315-4E3E-A7AE-AE2A82C4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3429000"/>
            <a:ext cx="2838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Producer отслеживает папку data/ и загружает новые .tif/.tiff в MinIO.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C0EB12-BF02-442D-98D7-0ED96404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2895600"/>
            <a:ext cx="3257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BCD3AD-C557-4646-B6CF-AB6349E5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28956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89E87D-34EA-4475-88FA-F533DCB4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0670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7D8"/>
                </a:solidFill>
              </a:defRPr>
            </a:pPr>
            <a:r>
              <a:rPr sz="1275" b="1">
                <a:solidFill>
                  <a:srgbClr val="48C7D8"/>
                </a:solidFill>
              </a:rPr>
              <a:t>Очередь событий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417616-FB97-4867-85C5-07643521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429000"/>
            <a:ext cx="2838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Kafka передаёт Spark сведения о новых объектах raw/.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08D32E-BA3A-4508-9E92-09347256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2895600"/>
            <a:ext cx="3257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41F03B-49BD-40E4-8FE2-BE06C871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28956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D27E5F-6F4B-47CE-B147-F7B2AB4A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30670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B84A"/>
                </a:solidFill>
              </a:defRPr>
            </a:pPr>
            <a:r>
              <a:rPr sz="1275" b="1">
                <a:solidFill>
                  <a:srgbClr val="E8B84A"/>
                </a:solidFill>
              </a:rPr>
              <a:t>Обработка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525312-651D-4593-A433-9B8D8763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3429000"/>
            <a:ext cx="2838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GeoTIFF режется на тайлы, нормализуется и отправляется в сегментацию.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CAF3E7-FECC-4204-BB67-1CBF4941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4514850"/>
            <a:ext cx="3257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19B387-0A48-4CA9-A593-40B6D62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45148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3DE23B-C27E-4AF9-80E9-ACA44EB3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46863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</a:defRPr>
            </a:pPr>
            <a:r>
              <a:rPr sz="1275" b="1">
                <a:solidFill>
                  <a:srgbClr val="39D98A"/>
                </a:solidFill>
              </a:rPr>
              <a:t>Сборка масок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0559FF-4C4C-48BC-A5F2-C79A2F4E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5048250"/>
            <a:ext cx="2838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Маски тайлов объединяются в shapefile для конкретного снимка.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61B498-5BDF-431F-A34D-578304A8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4514850"/>
            <a:ext cx="3257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2047D7-DDB5-4A11-AE5B-ADEA5DA9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45148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704E51-C890-4DB1-8E62-33FDCEA8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46863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7D8"/>
                </a:solidFill>
              </a:defRPr>
            </a:pPr>
            <a:r>
              <a:rPr sz="1275" b="1">
                <a:solidFill>
                  <a:srgbClr val="48C7D8"/>
                </a:solidFill>
              </a:rPr>
              <a:t>Карта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9D3F0F-D17E-4508-83F7-ACF23234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5048250"/>
            <a:ext cx="2838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FastAPI и Leaflet показывают несколько снимков, тайлы и маски.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C22E9F-E963-4EDC-AE97-5BD6A7A0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4514850"/>
            <a:ext cx="3257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79D0B6-4C15-439B-985B-AC81EE36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45148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FF9D19-7B93-4D6B-85CE-943773CD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46863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B84A"/>
                </a:solidFill>
              </a:defRPr>
            </a:pPr>
            <a:r>
              <a:rPr sz="1275" b="1">
                <a:solidFill>
                  <a:srgbClr val="E8B84A"/>
                </a:solidFill>
              </a:rPr>
              <a:t>Скачивание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2C5A64-24E8-464B-AE60-ACCF7D4D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5048250"/>
            <a:ext cx="2838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Можно скачать Sentinel-1 по текущей области карты и shapefile результата.</a:t>
            </a:r>
          </a:p>
        </p:txBody>
      </p:sp>
    </p:spTree>
    <p:extLst>
      <p:ext uri="{BB962C8B-B14F-4D97-AF65-F5344CB8AC3E}">
        <p14:creationId xmlns:p14="http://schemas.microsoft.com/office/powerpoint/2010/main" val="550494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52D16-9312-4CEC-8268-20CCB9CC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95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CD18B-F105-430F-91CB-C1A2D6A2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86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AE4FC-6990-4222-8875-D7D4F40B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3335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3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6F79C-DFFB-48AC-9A41-B7FDFC34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0144B-C18E-4041-B0D3-DE32360A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03A1C-F272-4307-8527-622751DA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A1E65-815E-4CA1-9C80-D43CAD24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67ADD-564D-4FE9-A8A6-905A6818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11CE1-802C-492F-9B0D-9EF6286E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57BEE-DC2D-4F04-A7A1-93F13871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46D3B-1B64-487A-9712-C724061C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57200"/>
            <a:ext cx="112014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4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E0B5E-CA1D-40A3-A8D6-21846B44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</a:defRPr>
            </a:pPr>
            <a:r>
              <a:rPr sz="975" b="1">
                <a:solidFill>
                  <a:srgbClr val="39D98A"/>
                </a:solidFill>
              </a:rPr>
              <a:t>ПОЛЬЗОВАТЕЛИ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8EDC1-CEB6-4533-B31F-6500EB7B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00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7BA"/>
                </a:solidFill>
              </a:defRPr>
            </a:pPr>
            <a:r>
              <a:rPr sz="975" b="1">
                <a:solidFill>
                  <a:srgbClr val="B7C7BA"/>
                </a:solidFill>
              </a:rPr>
              <a:t>06 /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D039F-D8D2-42AD-9ADB-5331A1B6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C5076-853E-468B-A27C-54004BB5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144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5EA"/>
                </a:solidFill>
              </a:defRPr>
            </a:pPr>
            <a:r>
              <a:rPr sz="2925" b="1">
                <a:solidFill>
                  <a:srgbClr val="F8F5EA"/>
                </a:solidFill>
              </a:rPr>
              <a:t>Целевая аудитория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BDF47-A351-4E51-9D75-C9C5AD8A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BA"/>
                </a:solidFill>
              </a:defRPr>
            </a:pPr>
            <a:r>
              <a:rPr sz="1350" b="0">
                <a:solidFill>
                  <a:srgbClr val="B7C7BA"/>
                </a:solidFill>
              </a:rPr>
              <a:t>Решение полезно там, где нужно регулярно анализировать большие спутниковые сцены и быстро получать карту результата.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A7F97-F499-41F7-8ED5-D3A356DF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0289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E3775-86CE-4124-8F19-F02CE79B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32766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B8B29-B8F6-4018-BB5D-FF1B22FF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1910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20F"/>
                </a:solidFill>
              </a:defRPr>
            </a:pPr>
            <a:r>
              <a:rPr sz="1275" b="1">
                <a:solidFill>
                  <a:srgbClr val="07120F"/>
                </a:solidFill>
              </a:rPr>
              <a:t>GIS-аналитики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746822-392C-4940-8DFF-3A993AFB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6482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840"/>
                </a:solidFill>
              </a:defRPr>
            </a:pPr>
            <a:r>
              <a:rPr sz="975" b="0">
                <a:solidFill>
                  <a:srgbClr val="334840"/>
                </a:solidFill>
              </a:rPr>
              <a:t>просмотр слоёв, экспорт shapefile, работа с координатами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27E11-5420-48D8-A497-E042EA4B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30289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CC1CD-4973-4766-A7AC-96347661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32766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64942-2E78-4B45-BEFD-6844ED15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41910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20F"/>
                </a:solidFill>
              </a:defRPr>
            </a:pPr>
            <a:r>
              <a:rPr sz="1275" b="1">
                <a:solidFill>
                  <a:srgbClr val="07120F"/>
                </a:solidFill>
              </a:rPr>
              <a:t>Исследователи ДЗЗ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3AC52-9027-4849-AF25-63426EC2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46482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840"/>
                </a:solidFill>
              </a:defRPr>
            </a:pPr>
            <a:r>
              <a:rPr sz="975" b="0">
                <a:solidFill>
                  <a:srgbClr val="334840"/>
                </a:solidFill>
              </a:rPr>
              <a:t>эксперименты с моделями сегментации и параметрами обработки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5494B7-3841-4B03-8F17-6014493E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30289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241B9E-F4AF-47B4-99C7-DA0E2D0D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32766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409FF8-C5D0-4B91-A2FF-7D24A390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41910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6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20F"/>
                </a:solidFill>
              </a:defRPr>
            </a:pPr>
            <a:r>
              <a:rPr sz="1275" b="1">
                <a:solidFill>
                  <a:srgbClr val="07120F"/>
                </a:solidFill>
              </a:rPr>
              <a:t>Экологи и мониторинг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AA874E-CD1F-4047-8498-D1F9C84B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46482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840"/>
                </a:solidFill>
              </a:defRPr>
            </a:pPr>
            <a:r>
              <a:rPr sz="975" b="0">
                <a:solidFill>
                  <a:srgbClr val="334840"/>
                </a:solidFill>
              </a:rPr>
              <a:t>отслеживание изменений территории и природных объектов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7DC3EF-28D5-44D3-9D08-EAD1BE4F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0289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400B84-6D6C-4EEF-BAC0-8FEDE60F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2766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A19216-1A88-4DE9-8C7E-6E9F65C8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1910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2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20F"/>
                </a:solidFill>
              </a:defRPr>
            </a:pPr>
            <a:r>
              <a:rPr sz="1275" b="1">
                <a:solidFill>
                  <a:srgbClr val="07120F"/>
                </a:solidFill>
              </a:rPr>
              <a:t>Службы наблюдения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9C64F8-4644-4370-8E2F-5C0BABC7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6482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840"/>
                </a:solidFill>
              </a:defRPr>
            </a:pPr>
            <a:r>
              <a:rPr sz="975" b="0">
                <a:solidFill>
                  <a:srgbClr val="334840"/>
                </a:solidFill>
              </a:rPr>
              <a:t>быстрая подготовка данных по выбранной области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712C90-0F24-41BB-8386-D05B87EF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0" y="30289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04C97F-71E3-4886-AD4E-593498B8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9350" y="32766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D187DC-4BC5-407B-BCAA-CBB7E93F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8350" y="41910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20F"/>
                </a:solidFill>
              </a:defRPr>
            </a:pPr>
            <a:r>
              <a:rPr sz="1275" b="1">
                <a:solidFill>
                  <a:srgbClr val="07120F"/>
                </a:solidFill>
              </a:rPr>
              <a:t>Образование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C67984-3181-4ECA-A784-48C657E9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8350" y="46482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840"/>
                </a:solidFill>
              </a:defRPr>
            </a:pPr>
            <a:r>
              <a:rPr sz="975" b="0">
                <a:solidFill>
                  <a:srgbClr val="334840"/>
                </a:solidFill>
              </a:rPr>
              <a:t>демонстрация Big Data-конвейера на реальном домене</a:t>
            </a:r>
          </a:p>
        </p:txBody>
      </p:sp>
    </p:spTree>
    <p:extLst>
      <p:ext uri="{BB962C8B-B14F-4D97-AF65-F5344CB8AC3E}">
        <p14:creationId xmlns:p14="http://schemas.microsoft.com/office/powerpoint/2010/main" val="5258210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59F02-556F-4CC2-A543-BA0E29CF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95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55531-3F5D-478A-BECD-E67F7274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86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B70AF-420A-469A-A297-D62B61FB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3335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3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13FBA-428C-439C-88F0-0402C4CA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4B22B-C202-47A9-AFEE-89F54D02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56078-E2F0-4882-B78F-DAE99626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F73D9-D60D-4867-9071-D1038C2E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54ADF-47EF-41F8-9659-AC676ECE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F107A-AA37-49B8-AD64-07D8BFA9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6B8AE-DBA8-4AD4-900B-52792850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24712-6500-47FA-AF6C-EDE05D9C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57200"/>
            <a:ext cx="112014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4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FDCFE-26B3-4209-85E1-53400A6A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</a:defRPr>
            </a:pPr>
            <a:r>
              <a:rPr sz="975" b="1">
                <a:solidFill>
                  <a:srgbClr val="39D98A"/>
                </a:solidFill>
              </a:rPr>
              <a:t>СЦЕНАРИЙ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C15C8-B115-4A4A-BEE8-4EFA38DE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00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7BA"/>
                </a:solidFill>
              </a:defRPr>
            </a:pPr>
            <a:r>
              <a:rPr sz="975" b="1">
                <a:solidFill>
                  <a:srgbClr val="B7C7BA"/>
                </a:solidFill>
              </a:rPr>
              <a:t>07 /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24B0B-6AA6-4E18-8A62-4ACA0900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728DF-33C2-4F42-8746-C5C877B0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144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5EA"/>
                </a:solidFill>
              </a:defRPr>
            </a:pPr>
            <a:r>
              <a:rPr sz="2925" b="1">
                <a:solidFill>
                  <a:srgbClr val="F8F5EA"/>
                </a:solidFill>
              </a:rPr>
              <a:t>Сценарий использования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23720-31C3-4601-B759-F22F1858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BA"/>
                </a:solidFill>
              </a:defRPr>
            </a:pPr>
            <a:r>
              <a:rPr sz="1350" b="0">
                <a:solidFill>
                  <a:srgbClr val="B7C7BA"/>
                </a:solidFill>
              </a:rPr>
              <a:t>Пользователь работает с картой, а тяжёлая обработка уходит в фоновые сервисы.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FE02A-6615-4F7D-A530-6473AAF9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2781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F3D3D-FFD2-4317-A5E5-491C70DF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300037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20F"/>
                </a:solidFill>
              </a:defRPr>
            </a:pPr>
            <a:r>
              <a:rPr sz="1875" b="1">
                <a:solidFill>
                  <a:srgbClr val="07120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21690-8C89-4A8B-B26D-5322F9BD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886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5EA"/>
                </a:solidFill>
              </a:defRPr>
            </a:pPr>
            <a:r>
              <a:rPr sz="1275" b="1">
                <a:solidFill>
                  <a:srgbClr val="F8F5EA"/>
                </a:solidFill>
              </a:rPr>
              <a:t>Выбрать область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30CEF-F9CE-4369-B11A-0BDAF93C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305300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7C7BA"/>
                </a:solidFill>
              </a:defRPr>
            </a:pPr>
            <a:r>
              <a:rPr sz="975" b="0">
                <a:solidFill>
                  <a:srgbClr val="B7C7BA"/>
                </a:solidFill>
              </a:rPr>
              <a:t>На Leaflet-карте задаётся текущая область интереса.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CABAA-01CB-4B40-B82D-17993815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650" y="30670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B47B5B-B86E-4E87-AD1B-258B55CE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2781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BF088A-7F05-46FE-BF41-FE2D18DA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300037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20F"/>
                </a:solidFill>
              </a:defRPr>
            </a:pPr>
            <a:r>
              <a:rPr sz="1875" b="1">
                <a:solidFill>
                  <a:srgbClr val="07120F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E49FF-449B-4E9F-9DB0-9340BE31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3886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5EA"/>
                </a:solidFill>
              </a:defRPr>
            </a:pPr>
            <a:r>
              <a:rPr sz="1275" b="1">
                <a:solidFill>
                  <a:srgbClr val="F8F5EA"/>
                </a:solidFill>
              </a:rPr>
              <a:t>Скачать Sentinel-1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AD9AED-F19C-4670-94A5-82321FE2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4305300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7C7BA"/>
                </a:solidFill>
              </a:defRPr>
            </a:pPr>
            <a:r>
              <a:rPr sz="975" b="0">
                <a:solidFill>
                  <a:srgbClr val="B7C7BA"/>
                </a:solidFill>
              </a:rPr>
              <a:t>FastAPI получает bbox и скачивает GeoTIFF в data/.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000B49-CC0B-41E0-BF4B-B8D67D63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30670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4F7D3B-3A9F-41AF-8613-7C6615B9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2781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0AA23B-61D6-4FF9-A4F9-631C75B3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300037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20F"/>
                </a:solidFill>
              </a:defRPr>
            </a:pPr>
            <a:r>
              <a:rPr sz="1875" b="1">
                <a:solidFill>
                  <a:srgbClr val="07120F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4B4C0-FB3A-4327-B743-BE117476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3886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5EA"/>
                </a:solidFill>
              </a:defRPr>
            </a:pPr>
            <a:r>
              <a:rPr sz="1275" b="1">
                <a:solidFill>
                  <a:srgbClr val="F8F5EA"/>
                </a:solidFill>
              </a:rPr>
              <a:t>Загрузить в MinIO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17334A-B1F8-495D-9156-B69DED66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4305300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7C7BA"/>
                </a:solidFill>
              </a:defRPr>
            </a:pPr>
            <a:r>
              <a:rPr sz="975" b="0">
                <a:solidFill>
                  <a:srgbClr val="B7C7BA"/>
                </a:solidFill>
              </a:rPr>
              <a:t>Producer переносит файл в raw/ и отправляет событие Kafka.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37AC0A-C28C-49E8-AE01-B2CE175B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30670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3DF108-6965-43B8-9887-561B798C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781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13D2FE-124E-4BEA-80B0-3342C887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300037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20F"/>
                </a:solidFill>
              </a:defRPr>
            </a:pPr>
            <a:r>
              <a:rPr sz="1875" b="1">
                <a:solidFill>
                  <a:srgbClr val="07120F"/>
                </a:solidFill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609662-E86F-4B3A-8DD8-A6E55D01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886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5EA"/>
                </a:solidFill>
              </a:defRPr>
            </a:pPr>
            <a:r>
              <a:rPr sz="1275" b="1">
                <a:solidFill>
                  <a:srgbClr val="F8F5EA"/>
                </a:solidFill>
              </a:rPr>
              <a:t>Обработать в Spark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3D7DC6-FA3C-457D-9808-BC0C815D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4305300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7C7BA"/>
                </a:solidFill>
              </a:defRPr>
            </a:pPr>
            <a:r>
              <a:rPr sz="975" b="0">
                <a:solidFill>
                  <a:srgbClr val="B7C7BA"/>
                </a:solidFill>
              </a:rPr>
              <a:t>Spark режет GeoTIFF, строит маски и shapefile.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0F1366-5595-42A0-8E46-BCEE014A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30670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DC6307-E952-4FBE-AD91-E1671D34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2781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44B979-C6E4-4D7E-B0AB-E503D469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300037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20F"/>
                </a:solidFill>
              </a:defRPr>
            </a:pPr>
            <a:r>
              <a:rPr sz="1875" b="1">
                <a:solidFill>
                  <a:srgbClr val="07120F"/>
                </a:solidFill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74147B-1276-438F-9EAF-1BE45D63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3886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5EA"/>
                </a:solidFill>
              </a:defRPr>
            </a:pPr>
            <a:r>
              <a:rPr sz="1275" b="1">
                <a:solidFill>
                  <a:srgbClr val="F8F5EA"/>
                </a:solidFill>
              </a:rPr>
              <a:t>Посмотреть результат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D24F4F-FF83-4C69-B9A4-24A497A8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4305300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7C7BA"/>
                </a:solidFill>
              </a:defRPr>
            </a:pPr>
            <a:r>
              <a:rPr sz="975" b="0">
                <a:solidFill>
                  <a:srgbClr val="B7C7BA"/>
                </a:solidFill>
              </a:rPr>
              <a:t>Карта показывает тайлы и маску; shapefile можно скачать.</a:t>
            </a:r>
          </a:p>
        </p:txBody>
      </p:sp>
    </p:spTree>
    <p:extLst>
      <p:ext uri="{BB962C8B-B14F-4D97-AF65-F5344CB8AC3E}">
        <p14:creationId xmlns:p14="http://schemas.microsoft.com/office/powerpoint/2010/main" val="7610667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0A1A2-B6E0-4019-B443-9F3441A8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95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1D4FA-A7B7-421A-8507-38E68A64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86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38633-55AC-4C26-9722-8392FF1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3335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3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BE96D-318A-4078-A248-0BFFD6E6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0FB2E-2CED-456B-B864-05A01688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55D9B-C5D4-4703-91F3-FF76B373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58A81-4CCF-410B-AC7A-49477A04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2D26B-254E-4F9B-927B-9AEDDE18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45016-4812-4983-9339-901D1831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E7486-6ACF-4303-B8F7-C3BAD381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CC609-7BC7-4A98-93F8-C66C72FC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57200"/>
            <a:ext cx="112014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4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EFC3B-811B-46F2-A875-EA380796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</a:defRPr>
            </a:pPr>
            <a:r>
              <a:rPr sz="975" b="1">
                <a:solidFill>
                  <a:srgbClr val="39D98A"/>
                </a:solidFill>
              </a:rPr>
              <a:t>АНАЛОГИ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0BF8F-5AD8-44B4-A6F0-CF1B0638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00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7BA"/>
                </a:solidFill>
              </a:defRPr>
            </a:pPr>
            <a:r>
              <a:rPr sz="975" b="1">
                <a:solidFill>
                  <a:srgbClr val="B7C7BA"/>
                </a:solidFill>
              </a:rPr>
              <a:t>08 /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DAECA-7E74-49CC-A6F8-3A2D91D7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712D2-8E1A-4D6A-8F90-084F9238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144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5EA"/>
                </a:solidFill>
              </a:defRPr>
            </a:pPr>
            <a:r>
              <a:rPr sz="2925" b="1">
                <a:solidFill>
                  <a:srgbClr val="F8F5EA"/>
                </a:solidFill>
              </a:rPr>
              <a:t>Сравнение с альтернативами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D9CF7-20B6-4203-8586-194F28B8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BA"/>
                </a:solidFill>
              </a:defRPr>
            </a:pPr>
            <a:r>
              <a:rPr sz="1350" b="0">
                <a:solidFill>
                  <a:srgbClr val="B7C7BA"/>
                </a:solidFill>
              </a:rPr>
              <a:t>Проект занимает нишу между настольной GIS-обработкой и облачными скриптами: локальный, воспроизводимый и расширяемый конвейер.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7F166-4711-4046-B1B3-C830A53A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72415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2F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5F2D0F-E4ED-46C0-86CE-794F7473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8479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Характеристика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BA2C5-E3E5-40E6-B80D-AB7450B9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27241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2F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60123B-A90C-4BCC-902B-36B78101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28479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QGIS/ручная обработка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F4158B-882D-4D76-BBFC-BAE234C2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272415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2F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DF8DAF-19B6-490D-95E7-EFC85DCD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479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Google Earth Engine скрипт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076F93-0EF2-4820-98DE-B690BC59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27241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25C67-7F85-4386-8283-02BCE46B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28479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0F"/>
                </a:solidFill>
              </a:defRPr>
            </a:pPr>
            <a:r>
              <a:rPr sz="975" b="1">
                <a:solidFill>
                  <a:srgbClr val="07120F"/>
                </a:solidFill>
              </a:rPr>
              <a:t>Разработанный сервис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CE55F6-7CBC-4CA4-AB34-5DE6C981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32004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1B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51B845-8155-4C39-805C-998E223E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3147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8F5EA"/>
                </a:solidFill>
              </a:defRPr>
            </a:pPr>
            <a:r>
              <a:rPr sz="863" b="1">
                <a:solidFill>
                  <a:srgbClr val="F8F5EA"/>
                </a:solidFill>
              </a:rPr>
              <a:t>Автоматическая загрузка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D9395C-E6E3-4C3E-A05F-2DCFC061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32004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1B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442F8A-F917-464F-9AE2-8872FA9D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33147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F5EA"/>
                </a:solidFill>
              </a:defRPr>
            </a:pPr>
            <a:r>
              <a:rPr sz="863" b="0">
                <a:solidFill>
                  <a:srgbClr val="F8F5EA"/>
                </a:solidFill>
              </a:rPr>
              <a:t>частично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42E295-90DB-45FD-8BC4-22C8FBA5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32004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1B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8778B4-03E3-475E-B439-0EA70CEF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33147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F5EA"/>
                </a:solidFill>
              </a:defRPr>
            </a:pPr>
            <a:r>
              <a:rPr sz="863" b="0">
                <a:solidFill>
                  <a:srgbClr val="F8F5EA"/>
                </a:solidFill>
              </a:rPr>
              <a:t>да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90E026-E78B-4039-9587-F117F901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32004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103279-4990-4A7B-8AA3-DD3295C5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33147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7120F"/>
                </a:solidFill>
              </a:defRPr>
            </a:pPr>
            <a:r>
              <a:rPr sz="863" b="1">
                <a:solidFill>
                  <a:srgbClr val="07120F"/>
                </a:solidFill>
              </a:rPr>
              <a:t>да, через producer + MinIO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997AC7-2839-43BC-92BB-56AEBCEF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36576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9C233E-09A6-41F7-84F1-D6D6F962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7719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8F5EA"/>
                </a:solidFill>
              </a:defRPr>
            </a:pPr>
            <a:r>
              <a:rPr sz="863" b="1">
                <a:solidFill>
                  <a:srgbClr val="F8F5EA"/>
                </a:solidFill>
              </a:rPr>
              <a:t>Параллельная обработка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342124-AA83-4B1A-AE1D-DE401105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36576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4FF0D1-CFDE-4DEA-B6F5-ADF474F7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37719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F5EA"/>
                </a:solidFill>
              </a:defRPr>
            </a:pPr>
            <a:r>
              <a:rPr sz="863" b="0">
                <a:solidFill>
                  <a:srgbClr val="F8F5EA"/>
                </a:solidFill>
              </a:rPr>
              <a:t>ограниченно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840BF5-0902-41CA-860D-73298E87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36576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E74FAE-6EE3-43A6-A464-BE754904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37719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F5EA"/>
                </a:solidFill>
              </a:defRPr>
            </a:pPr>
            <a:r>
              <a:rPr sz="863" b="0">
                <a:solidFill>
                  <a:srgbClr val="F8F5EA"/>
                </a:solidFill>
              </a:rPr>
              <a:t>облако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49C27F-E161-4895-8808-22006342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36576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6DF114-9CBF-4AF5-9778-570FB1E7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37719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7120F"/>
                </a:solidFill>
              </a:defRPr>
            </a:pPr>
            <a:r>
              <a:rPr sz="863" b="1">
                <a:solidFill>
                  <a:srgbClr val="07120F"/>
                </a:solidFill>
              </a:rPr>
              <a:t>да, Spark workers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DC9928-6AB3-43DF-96B8-863B74FA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41148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1B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017400-F6DF-4D10-AE8E-A9913B8A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22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8F5EA"/>
                </a:solidFill>
              </a:defRPr>
            </a:pPr>
            <a:r>
              <a:rPr sz="863" b="1">
                <a:solidFill>
                  <a:srgbClr val="F8F5EA"/>
                </a:solidFill>
              </a:rPr>
              <a:t>Собственное хранилище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0C3EB0-8B02-493E-81A8-94B78189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41148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1B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3F9258-1F89-46A0-A88C-D6ADEF36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4229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F5EA"/>
                </a:solidFill>
              </a:defRPr>
            </a:pPr>
            <a:r>
              <a:rPr sz="863" b="0">
                <a:solidFill>
                  <a:srgbClr val="F8F5EA"/>
                </a:solidFill>
              </a:rPr>
              <a:t>файлы локально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785860-9DA8-474B-9AF4-AD69024C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41148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1B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7E5286-B614-46CC-B152-5A275028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422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F5EA"/>
                </a:solidFill>
              </a:defRPr>
            </a:pPr>
            <a:r>
              <a:rPr sz="863" b="0">
                <a:solidFill>
                  <a:srgbClr val="F8F5EA"/>
                </a:solidFill>
              </a:rPr>
              <a:t>нет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55AC47-D9AC-448C-B221-29DE4A6D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41148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5D9795-267F-4391-8A22-1E1BB492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42291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7120F"/>
                </a:solidFill>
              </a:defRPr>
            </a:pPr>
            <a:r>
              <a:rPr sz="863" b="1">
                <a:solidFill>
                  <a:srgbClr val="07120F"/>
                </a:solidFill>
              </a:rPr>
              <a:t>MinIO + PostgreSQL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769FBD-9731-4148-8490-8E873FAB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45720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5F39C9-2670-4939-9FA3-51B7881F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6863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8F5EA"/>
                </a:solidFill>
              </a:defRPr>
            </a:pPr>
            <a:r>
              <a:rPr sz="863" b="1">
                <a:solidFill>
                  <a:srgbClr val="F8F5EA"/>
                </a:solidFill>
              </a:rPr>
              <a:t>Веб-карта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3BDA5A-0930-4F1D-8D35-435DA807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45720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2FBAF1-7EA4-423E-A569-6FF8104C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46863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F5EA"/>
                </a:solidFill>
              </a:defRPr>
            </a:pPr>
            <a:r>
              <a:rPr sz="863" b="0">
                <a:solidFill>
                  <a:srgbClr val="F8F5EA"/>
                </a:solidFill>
              </a:rPr>
              <a:t>не основной сценарий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42EF00-DD51-41AF-81CB-8D0DE6F1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45720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34FB91-E03A-4D6F-BF21-177FAEB3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46863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F5EA"/>
                </a:solidFill>
              </a:defRPr>
            </a:pPr>
            <a:r>
              <a:rPr sz="863" b="0">
                <a:solidFill>
                  <a:srgbClr val="F8F5EA"/>
                </a:solidFill>
              </a:rPr>
              <a:t>ограниченно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FC096B-6248-49F0-9C3F-6F1349A6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45720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545DFB-BBE6-4FF3-B9F9-063F1BA3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46863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7120F"/>
                </a:solidFill>
              </a:defRPr>
            </a:pPr>
            <a:r>
              <a:rPr sz="863" b="1">
                <a:solidFill>
                  <a:srgbClr val="07120F"/>
                </a:solidFill>
              </a:rPr>
              <a:t>FastAPI + Leaflet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EA5D0A-9B5C-4135-9733-D821A800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50292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1B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F946B6-DD59-49D8-A43B-676B35DA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143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8F5EA"/>
                </a:solidFill>
              </a:defRPr>
            </a:pPr>
            <a:r>
              <a:rPr sz="863" b="1">
                <a:solidFill>
                  <a:srgbClr val="F8F5EA"/>
                </a:solidFill>
              </a:rPr>
              <a:t>Shapefile по каждому снимку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7955FA-66C1-468C-833E-55012BFC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50292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1B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8CDFDB6-AB0C-49D8-B5CC-03094D02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5143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F5EA"/>
                </a:solidFill>
              </a:defRPr>
            </a:pPr>
            <a:r>
              <a:rPr sz="863" b="0">
                <a:solidFill>
                  <a:srgbClr val="F8F5EA"/>
                </a:solidFill>
              </a:rPr>
              <a:t>вручную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253A93F-B9C2-4DA4-B893-227149C4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50292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1B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93C6E7-8CBA-4750-A03F-ADA2B222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5143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F5EA"/>
                </a:solidFill>
              </a:defRPr>
            </a:pPr>
            <a:r>
              <a:rPr sz="863" b="0">
                <a:solidFill>
                  <a:srgbClr val="F8F5EA"/>
                </a:solidFill>
              </a:rPr>
              <a:t>нужно дорабатывать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197AF17-5140-4BDC-A907-3543F7F2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50292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62A7086-F5A2-415A-8A1F-21F7A2FE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51435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7120F"/>
                </a:solidFill>
              </a:defRPr>
            </a:pPr>
            <a:r>
              <a:rPr sz="863" b="1">
                <a:solidFill>
                  <a:srgbClr val="07120F"/>
                </a:solidFill>
              </a:rPr>
              <a:t>создаётся автоматически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19BA06B-0E06-41D7-A075-4AB29A6E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54864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482E6E-0223-47C7-AB0F-F8E4BFC5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6007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8F5EA"/>
                </a:solidFill>
              </a:defRPr>
            </a:pPr>
            <a:r>
              <a:rPr sz="863" b="1">
                <a:solidFill>
                  <a:srgbClr val="F8F5EA"/>
                </a:solidFill>
              </a:rPr>
              <a:t>Расширение ИИ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600E80-304A-44C5-85B6-59201CF6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54864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0D654BA-63CD-4298-B68A-3F03EA72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56007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F5EA"/>
                </a:solidFill>
              </a:defRPr>
            </a:pPr>
            <a:r>
              <a:rPr sz="863" b="0">
                <a:solidFill>
                  <a:srgbClr val="F8F5EA"/>
                </a:solidFill>
              </a:rPr>
              <a:t>плагинами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D0D9584-77EA-476F-B0BD-2019EE7A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54864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4798BAC-7757-4267-A488-D68C2323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56007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8F5EA"/>
                </a:solidFill>
              </a:defRPr>
            </a:pPr>
            <a:r>
              <a:rPr sz="863" b="0">
                <a:solidFill>
                  <a:srgbClr val="F8F5EA"/>
                </a:solidFill>
              </a:rPr>
              <a:t>зависит от API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31EEB96-078E-4ECE-9079-0338A399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54864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9525">
            <a:solidFill>
              <a:srgbClr val="07120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EEDC733-B0F1-4CE3-AF10-B264E35D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56007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7120F"/>
                </a:solidFill>
              </a:defRPr>
            </a:pPr>
            <a:r>
              <a:rPr sz="863" b="1">
                <a:solidFill>
                  <a:srgbClr val="07120F"/>
                </a:solidFill>
              </a:rPr>
              <a:t>заглушка и модельный модуль</a:t>
            </a:r>
          </a:p>
        </p:txBody>
      </p:sp>
    </p:spTree>
    <p:extLst>
      <p:ext uri="{BB962C8B-B14F-4D97-AF65-F5344CB8AC3E}">
        <p14:creationId xmlns:p14="http://schemas.microsoft.com/office/powerpoint/2010/main" val="7132995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9D415-6BA1-4476-A0B7-8711CE1E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95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07DA9-678E-4FF2-A8FD-D56E9775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86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B8716-6E2F-4C92-B254-AB459E11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3335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3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21471-FE10-411F-99F4-DA298D3F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A82D3-322B-4832-85AE-BE07BC36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F0FF5-3F83-47C9-BD29-821CB799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37CE4-E171-4379-B4B6-916EA814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98B54-4B1C-4409-BF90-0C62F321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D5B4D-7834-44B4-972E-A5EC89D0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52C7D-CCEB-491D-A1A4-BE35868A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F2A78-7A51-42FC-B441-7CBBE973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57200"/>
            <a:ext cx="112014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4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1BBC9-BFE0-4EEC-83D8-4C22DE27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</a:defRPr>
            </a:pPr>
            <a:r>
              <a:rPr sz="975" b="1">
                <a:solidFill>
                  <a:srgbClr val="39D98A"/>
                </a:solidFill>
              </a:rPr>
              <a:t>СТЕК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057AC-7C8A-469E-8376-C33192FF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00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7BA"/>
                </a:solidFill>
              </a:defRPr>
            </a:pPr>
            <a:r>
              <a:rPr sz="975" b="1">
                <a:solidFill>
                  <a:srgbClr val="B7C7BA"/>
                </a:solidFill>
              </a:rPr>
              <a:t>09 /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EB27A-8807-483C-A12D-D31C9914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F0DC6-AADB-4A70-8732-5C28DEBF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144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5EA"/>
                </a:solidFill>
              </a:defRPr>
            </a:pPr>
            <a:r>
              <a:rPr sz="2925" b="1">
                <a:solidFill>
                  <a:srgbClr val="F8F5EA"/>
                </a:solidFill>
              </a:rPr>
              <a:t>Выбор программных средств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7F168-63BC-4F04-99F6-60799D93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BA"/>
                </a:solidFill>
              </a:defRPr>
            </a:pPr>
            <a:r>
              <a:rPr sz="1350" b="0">
                <a:solidFill>
                  <a:srgbClr val="B7C7BA"/>
                </a:solidFill>
              </a:rPr>
              <a:t>Каждый компонент выбран под конкретную роль в конвейере обработки больших данных.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B20BB5-0E85-4A22-94AB-BEEB42ED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8575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0478">
            <a:solidFill>
              <a:srgbClr val="2C5A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116102-76B1-41B5-A21E-A4C807B8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0099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E211C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F09E52-CED9-4887-B7BA-1ABD87BC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765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Docker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38AA6B-E4CD-4905-B54E-5A949A25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3718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A"/>
                </a:solidFill>
              </a:defRPr>
            </a:pPr>
            <a:r>
              <a:rPr sz="1200" b="1">
                <a:solidFill>
                  <a:srgbClr val="F8F5EA"/>
                </a:solidFill>
              </a:rPr>
              <a:t>Docker Compose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48ABE-4F2E-4B9A-90C6-943D32D2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6385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7C7BA"/>
                </a:solidFill>
              </a:defRPr>
            </a:pPr>
            <a:r>
              <a:rPr sz="938" b="0">
                <a:solidFill>
                  <a:srgbClr val="B7C7BA"/>
                </a:solidFill>
              </a:rPr>
              <a:t>единый запуск всех сервисов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0C8E8-0BA5-46AC-A742-F9BBAD16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28575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0478">
            <a:solidFill>
              <a:srgbClr val="2C5A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2FA6CE-9B81-4D15-9114-F5980B40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30099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E211C"/>
          </a:solidFill>
          <a:ln xmlns:a="http://schemas.openxmlformats.org/drawingml/2006/main" w="9525">
            <a:solidFill>
              <a:srgbClr val="48C7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5970BF-49C3-4DD7-9B7F-43A36BC3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30765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MinIO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03823-379A-45C6-924D-C42F42FE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33718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A"/>
                </a:solidFill>
              </a:defRPr>
            </a:pPr>
            <a:r>
              <a:rPr sz="1200" b="1">
                <a:solidFill>
                  <a:srgbClr val="F8F5EA"/>
                </a:solidFill>
              </a:rPr>
              <a:t>MinIO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278E36-B358-4187-A9A9-117F509A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36385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52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7C7BA"/>
                </a:solidFill>
              </a:defRPr>
            </a:pPr>
            <a:r>
              <a:rPr sz="938" b="0">
                <a:solidFill>
                  <a:srgbClr val="B7C7BA"/>
                </a:solidFill>
              </a:rPr>
              <a:t>S3-совместимое объектное хранилище снимков и результатов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08BA02-4C46-47F5-BB56-B571C0F4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28575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0478">
            <a:solidFill>
              <a:srgbClr val="2C5A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CB8C7F-35CF-451E-9997-8D72C24C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0099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E211C"/>
          </a:solidFill>
          <a:ln xmlns:a="http://schemas.openxmlformats.org/drawingml/2006/main" w="9525">
            <a:solidFill>
              <a:srgbClr val="E8B8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6AE03A-3A22-4DC7-A331-813AD882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30765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Apache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FED4C4-FC71-4B38-AB2F-47F7AB55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3718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A"/>
                </a:solidFill>
              </a:defRPr>
            </a:pPr>
            <a:r>
              <a:rPr sz="1200" b="1">
                <a:solidFill>
                  <a:srgbClr val="F8F5EA"/>
                </a:solidFill>
              </a:rPr>
              <a:t>Apache Kafka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113C82-D420-4285-B469-62E2F5FD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6385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52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7C7BA"/>
                </a:solidFill>
              </a:defRPr>
            </a:pPr>
            <a:r>
              <a:rPr sz="938" b="0">
                <a:solidFill>
                  <a:srgbClr val="B7C7BA"/>
                </a:solidFill>
              </a:rPr>
              <a:t>буфер событий между загрузкой и обработкой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ED267C-C3BD-4C11-9329-B4ACE7EC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6850" y="28575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0478">
            <a:solidFill>
              <a:srgbClr val="2C5A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297D66-C000-4F0F-BC8B-1715F17A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30099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E211C"/>
          </a:solidFill>
          <a:ln xmlns:a="http://schemas.openxmlformats.org/drawingml/2006/main" w="9525">
            <a:solidFill>
              <a:srgbClr val="FF7B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E523E8-3F16-4FEF-AA12-37862746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30765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Apache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919520-A675-4AD6-9467-F53A8BEF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33718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A"/>
                </a:solidFill>
              </a:defRPr>
            </a:pPr>
            <a:r>
              <a:rPr sz="1200" b="1">
                <a:solidFill>
                  <a:srgbClr val="F8F5EA"/>
                </a:solidFill>
              </a:rPr>
              <a:t>Apache Spark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AB1FAC-F2C3-40C9-A92D-DBF0CE43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36385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52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7C7BA"/>
                </a:solidFill>
              </a:defRPr>
            </a:pPr>
            <a:r>
              <a:rPr sz="938" b="0">
                <a:solidFill>
                  <a:srgbClr val="B7C7BA"/>
                </a:solidFill>
              </a:rPr>
              <a:t>параллельная обработка нескольких снимков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8BB562-3222-49CB-BD1B-9AF304C7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3434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0478">
            <a:solidFill>
              <a:srgbClr val="2C5A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6F5693-C86E-4E74-B7F5-1A0B3AE9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4958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E211C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679DE2-AD7A-4DEC-A885-EA0BEE65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5624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PostgreSQL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3BAAC3-7A17-4FFE-9DED-2C35E23F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8577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A"/>
                </a:solidFill>
              </a:defRPr>
            </a:pPr>
            <a:r>
              <a:rPr sz="1200" b="1">
                <a:solidFill>
                  <a:srgbClr val="F8F5EA"/>
                </a:solidFill>
              </a:rPr>
              <a:t>PostgreSQL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4442ED-7C4F-4A0D-AA76-C3A1058B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124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52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7C7BA"/>
                </a:solidFill>
              </a:defRPr>
            </a:pPr>
            <a:r>
              <a:rPr sz="938" b="0">
                <a:solidFill>
                  <a:srgbClr val="B7C7BA"/>
                </a:solidFill>
              </a:rPr>
              <a:t>статусы, метаданные тайлов и координаты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CB3A34-19EE-42CB-86A5-82D0975D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43434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0478">
            <a:solidFill>
              <a:srgbClr val="2C5A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7026BC-0291-4BAF-BEB2-57B6DD5D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44958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E211C"/>
          </a:solidFill>
          <a:ln xmlns:a="http://schemas.openxmlformats.org/drawingml/2006/main" w="9525">
            <a:solidFill>
              <a:srgbClr val="48C7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D29343-D9BD-4ABD-A90A-D62DBE26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45624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FastAPI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4C0FFB-959E-4C6A-A3B2-7B2F70E9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48577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A"/>
                </a:solidFill>
              </a:defRPr>
            </a:pPr>
            <a:r>
              <a:rPr sz="1200" b="1">
                <a:solidFill>
                  <a:srgbClr val="F8F5EA"/>
                </a:solidFill>
              </a:rPr>
              <a:t>FastAPI + Leaflet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5E9DFC-1256-4EBB-84FD-DC58C63D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5124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7C7BA"/>
                </a:solidFill>
              </a:defRPr>
            </a:pPr>
            <a:r>
              <a:rPr sz="938" b="0">
                <a:solidFill>
                  <a:srgbClr val="B7C7BA"/>
                </a:solidFill>
              </a:rPr>
              <a:t>API, карта, скачивание данных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2CE7FF-3F35-4E97-92A5-F9F41724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43434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0478">
            <a:solidFill>
              <a:srgbClr val="2C5A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89608D-5B01-4526-A95F-AC3F6B27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44958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E211C"/>
          </a:solidFill>
          <a:ln xmlns:a="http://schemas.openxmlformats.org/drawingml/2006/main" w="9525">
            <a:solidFill>
              <a:srgbClr val="E8B84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8C0EC0-A259-479D-B75F-5BD168B0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45624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301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Rasterio/GeoPandas/OpenCV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0AF941-08F6-4E9A-8913-B327529C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48577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A"/>
                </a:solidFill>
              </a:defRPr>
            </a:pPr>
            <a:r>
              <a:rPr sz="1200" b="1">
                <a:solidFill>
                  <a:srgbClr val="F8F5EA"/>
                </a:solidFill>
              </a:rPr>
              <a:t>Rasterio/GeoPandas/OpenCV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8F43D2-B985-4717-A018-46D860DF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5124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7C7BA"/>
                </a:solidFill>
              </a:defRPr>
            </a:pPr>
            <a:r>
              <a:rPr sz="938" b="0">
                <a:solidFill>
                  <a:srgbClr val="B7C7BA"/>
                </a:solidFill>
              </a:rPr>
              <a:t>геоданные, shapefile и контуры масок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F67186-632B-4BB5-A809-143BC36D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6850" y="43434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0478">
            <a:solidFill>
              <a:srgbClr val="2C5A4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75E220-262D-47E5-AC6A-AA2FA54D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44958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E211C"/>
          </a:solidFill>
          <a:ln xmlns:a="http://schemas.openxmlformats.org/drawingml/2006/main" w="9525">
            <a:solidFill>
              <a:srgbClr val="FF7B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4B6510-9240-4B99-96FC-334B87CB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45624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5EA"/>
                </a:solidFill>
              </a:defRPr>
            </a:pPr>
            <a:r>
              <a:rPr sz="975" b="1">
                <a:solidFill>
                  <a:srgbClr val="F8F5EA"/>
                </a:solidFill>
              </a:rPr>
              <a:t>PyTorch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DF0A24-D173-4F9B-8EBF-9C9EC573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48577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A"/>
                </a:solidFill>
              </a:defRPr>
            </a:pPr>
            <a:r>
              <a:rPr sz="1200" b="1">
                <a:solidFill>
                  <a:srgbClr val="F8F5EA"/>
                </a:solidFill>
              </a:rPr>
              <a:t>PyTorch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238F78-5892-4A35-B3B1-45439FAE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5124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7C7BA"/>
                </a:solidFill>
              </a:defRPr>
            </a:pPr>
            <a:r>
              <a:rPr sz="938" b="0">
                <a:solidFill>
                  <a:srgbClr val="B7C7BA"/>
                </a:solidFill>
              </a:rPr>
              <a:t>место для ИИ-сегментации Unet++</a:t>
            </a:r>
          </a:p>
        </p:txBody>
      </p:sp>
    </p:spTree>
    <p:extLst>
      <p:ext uri="{BB962C8B-B14F-4D97-AF65-F5344CB8AC3E}">
        <p14:creationId xmlns:p14="http://schemas.microsoft.com/office/powerpoint/2010/main" val="16689929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CE7EF-FBB1-455F-BDF0-5628800F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95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95D30-6381-47FB-9331-D221E594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86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AACEA-44A0-43DB-8F2A-262E805E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3335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3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94A50-9412-446A-A9C5-066308D3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C605B-15F1-4D97-AA97-E6E74F60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BE8E4-0E7D-459B-848A-1053FF7F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9BA84-F722-40CE-95F1-1C7CF5B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0BD95-2A63-4711-A21A-BE3A552F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79E3E-D2D1-433A-94E2-044DBBB4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ECAC4-20B5-41D6-8DBF-55A280F5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7582C0-6920-4162-A21C-60A975C3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57200"/>
            <a:ext cx="112014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4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FEDDC-CB4F-46FE-B6F5-C36D2795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</a:defRPr>
            </a:pPr>
            <a:r>
              <a:rPr sz="975" b="1">
                <a:solidFill>
                  <a:srgbClr val="39D98A"/>
                </a:solidFill>
              </a:rPr>
              <a:t>АРХИТЕКТУРА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FE009-F9D4-4C4E-B05A-E6C8F321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00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7BA"/>
                </a:solidFill>
              </a:defRPr>
            </a:pPr>
            <a:r>
              <a:rPr sz="975" b="1">
                <a:solidFill>
                  <a:srgbClr val="B7C7BA"/>
                </a:solidFill>
              </a:rPr>
              <a:t>10 /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7012C-695A-4180-B312-CB08508A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769A8-F12C-42D1-A604-959A4C43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144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5EA"/>
                </a:solidFill>
              </a:defRPr>
            </a:pPr>
            <a:r>
              <a:rPr sz="2925" b="1">
                <a:solidFill>
                  <a:srgbClr val="F8F5EA"/>
                </a:solidFill>
              </a:rPr>
              <a:t>Архитектура проекта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69E80-DA4C-44B1-927A-2EE9C5DF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BA"/>
                </a:solidFill>
              </a:defRPr>
            </a:pPr>
            <a:r>
              <a:rPr sz="1350" b="0">
                <a:solidFill>
                  <a:srgbClr val="B7C7BA"/>
                </a:solidFill>
              </a:rPr>
              <a:t>Компоненты разделены по ответственности: ingest, хранение, события, вычисления, метаданные и веб-выдача.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91E44-B044-4EEE-871D-C6DAC02A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857500"/>
            <a:ext cx="1295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19050">
            <a:solidFill>
              <a:srgbClr val="39D9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F12BC-513A-4553-8A05-D80864B8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0575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0F"/>
                </a:solidFill>
              </a:defRPr>
            </a:pPr>
            <a:r>
              <a:rPr sz="975" b="1">
                <a:solidFill>
                  <a:srgbClr val="07120F"/>
                </a:solidFill>
              </a:rPr>
              <a:t>data/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40C0A-8494-48AA-B067-03A53F7C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857500"/>
            <a:ext cx="1295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19050">
            <a:solidFill>
              <a:srgbClr val="39D9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B1E3DE-1CC8-4FD9-BAE8-E32C897B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1700" y="30575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0F"/>
                </a:solidFill>
              </a:defRPr>
            </a:pPr>
            <a:r>
              <a:rPr sz="975" b="1">
                <a:solidFill>
                  <a:srgbClr val="07120F"/>
                </a:solidFill>
              </a:rPr>
              <a:t>producer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358CAF-0FCB-4FFF-84F2-F4DC0B99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2857500"/>
            <a:ext cx="1295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19050">
            <a:solidFill>
              <a:srgbClr val="48C7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19AF0-1318-4A93-9BFC-87757FAA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2850" y="30575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0F"/>
                </a:solidFill>
              </a:defRPr>
            </a:pPr>
            <a:r>
              <a:rPr sz="975" b="1">
                <a:solidFill>
                  <a:srgbClr val="07120F"/>
                </a:solidFill>
              </a:rPr>
              <a:t>MinIO raw/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CEBE64-3B3C-487E-A764-76BA72C0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857500"/>
            <a:ext cx="1295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19050">
            <a:solidFill>
              <a:srgbClr val="E8B8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F0EF35-0DEE-429D-AAF4-805ACF83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30575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0F"/>
                </a:solidFill>
              </a:defRPr>
            </a:pPr>
            <a:r>
              <a:rPr sz="975" b="1">
                <a:solidFill>
                  <a:srgbClr val="07120F"/>
                </a:solidFill>
              </a:rPr>
              <a:t>Kafka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2D892B-F42B-4CE5-9C45-5F10DC08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2857500"/>
            <a:ext cx="1295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19050">
            <a:solidFill>
              <a:srgbClr val="FF7B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75ADF1-E584-4341-A34E-53EC9003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30575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0F"/>
                </a:solidFill>
              </a:defRPr>
            </a:pPr>
            <a:r>
              <a:rPr sz="975" b="1">
                <a:solidFill>
                  <a:srgbClr val="07120F"/>
                </a:solidFill>
              </a:rPr>
              <a:t>Spark processor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93F379-3D9B-4C10-A7B8-2716A287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2381250"/>
            <a:ext cx="1295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19050">
            <a:solidFill>
              <a:srgbClr val="48C7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C81565-14E8-4789-9CB7-A63EE901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25812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0F"/>
                </a:solidFill>
              </a:defRPr>
            </a:pPr>
            <a:r>
              <a:rPr sz="975" b="1">
                <a:solidFill>
                  <a:srgbClr val="07120F"/>
                </a:solidFill>
              </a:rPr>
              <a:t>MinIO processed/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E6F447-540E-4230-AF5B-D0A20555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3600450"/>
            <a:ext cx="1295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19050">
            <a:solidFill>
              <a:srgbClr val="64A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D91AEF-86C7-4C9E-A6C9-7830875A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38004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0F"/>
                </a:solidFill>
              </a:defRPr>
            </a:pPr>
            <a:r>
              <a:rPr sz="975" b="1">
                <a:solidFill>
                  <a:srgbClr val="07120F"/>
                </a:solidFill>
              </a:rPr>
              <a:t>PostgreSQL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88B7FF-9405-44A5-8206-4D48C726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3009900"/>
            <a:ext cx="1295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19050">
            <a:solidFill>
              <a:srgbClr val="39D9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CCB9AA-C083-43E5-AAD4-CFCB43F7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6050" y="32099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0F"/>
                </a:solidFill>
              </a:defRPr>
            </a:pPr>
            <a:r>
              <a:rPr sz="975" b="1">
                <a:solidFill>
                  <a:srgbClr val="07120F"/>
                </a:solidFill>
              </a:rPr>
              <a:t>FastAPI + Leaflet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87D7C5-780C-4208-82D4-DCDA2CD0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304800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6C72D9-3260-4750-B556-540800FF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304800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6DA093-EA23-453D-975F-08A853D3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304800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9541ED-9CCC-4911-AFAD-9FB43811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304800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22E484-FF6B-4F0B-979E-38CF63E6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27241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59DAB5-62C2-4653-9F4A-09078498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39433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A43A19-03F0-4C4D-843A-139C0651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0300" y="32575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A269DF-7CB2-4F9B-BA09-0ADEFEB9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44386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9525">
            <a:solidFill>
              <a:srgbClr val="2D574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71079B-F9B8-4E41-9713-C5ECB0DF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46291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5EA"/>
                </a:solidFill>
              </a:defRPr>
            </a:pPr>
            <a:r>
              <a:rPr sz="1275" b="1">
                <a:solidFill>
                  <a:srgbClr val="F8F5EA"/>
                </a:solidFill>
              </a:rPr>
              <a:t>3 Spark worker</a:t>
            </a:r>
          </a:p>
          <a:p xmlns:a="http://schemas.openxmlformats.org/drawingml/2006/main">
            <a:pPr algn="ctr">
              <a:defRPr sz="1275" b="1">
                <a:solidFill>
                  <a:srgbClr val="F8F5EA"/>
                </a:solidFill>
              </a:defRPr>
            </a:pPr>
            <a:r>
              <a:rPr sz="1275" b="1">
                <a:solidFill>
                  <a:srgbClr val="F8F5EA"/>
                </a:solidFill>
              </a:rPr>
              <a:t>PROCESSOR_WORKERS=3</a:t>
            </a:r>
          </a:p>
        </p:txBody>
      </p:sp>
    </p:spTree>
    <p:extLst>
      <p:ext uri="{BB962C8B-B14F-4D97-AF65-F5344CB8AC3E}">
        <p14:creationId xmlns:p14="http://schemas.microsoft.com/office/powerpoint/2010/main" val="3840949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C9B63-7C1E-42C2-8FBC-5B8B905E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95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01ABB-0DD5-4E32-830A-8CEA7DCC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86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8A540-3C82-4358-9AB7-7937D366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3335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3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FB9BE-8E1C-4265-A87B-2E4920B1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40C08-469D-486E-BA62-1781506C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A07D0-97D6-4831-8372-81FDC33F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95D36-C467-4840-A4D9-4F7A203C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6E60A-E3CF-4972-9E4B-E97D3A30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931AB-5158-4FE6-9F29-73A9E66F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785E0-C1DF-4DF9-A1B2-8CB4B979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F9016-D12B-4E3E-ABA4-994ACB74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57200"/>
            <a:ext cx="112014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4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9FDA4-753E-4F8B-937E-8F27B97A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</a:defRPr>
            </a:pPr>
            <a:r>
              <a:rPr sz="975" b="1">
                <a:solidFill>
                  <a:srgbClr val="39D98A"/>
                </a:solidFill>
              </a:rPr>
              <a:t>ДАННЫЕ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D3C3A-9820-4A11-8895-B30F0C96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00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7BA"/>
                </a:solidFill>
              </a:defRPr>
            </a:pPr>
            <a:r>
              <a:rPr sz="975" b="1">
                <a:solidFill>
                  <a:srgbClr val="B7C7BA"/>
                </a:solidFill>
              </a:rPr>
              <a:t>11 /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28A98-5F72-4B93-B82C-AE64AA57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B7361-44D9-4AF6-8728-C08C282C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144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5EA"/>
                </a:solidFill>
              </a:defRPr>
            </a:pPr>
            <a:r>
              <a:rPr sz="2925" b="1">
                <a:solidFill>
                  <a:srgbClr val="F8F5EA"/>
                </a:solidFill>
              </a:rPr>
              <a:t>Сведения про данные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69BDC-36C7-4454-9A38-BD8F644D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BA"/>
                </a:solidFill>
              </a:defRPr>
            </a:pPr>
            <a:r>
              <a:rPr sz="1350" b="0">
                <a:solidFill>
                  <a:srgbClr val="B7C7BA"/>
                </a:solidFill>
              </a:rPr>
              <a:t>Входные данные — спутниковые GeoTIFF/Sentinel-1 VV, которые содержат растровые значения и пространственную привязку.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F5CEF-2863-4E1B-A2B5-5B4CFEB2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9337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CB5958-A24A-4CE1-9B2D-74E3D143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9337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628D9-11C0-43BF-8E52-80BC0B0B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1051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</a:defRPr>
            </a:pPr>
            <a:r>
              <a:rPr sz="1275" b="1">
                <a:solidFill>
                  <a:srgbClr val="39D98A"/>
                </a:solidFill>
              </a:rPr>
              <a:t>Сбор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21540-649E-4230-AD28-68D6D8ED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467100"/>
            <a:ext cx="4343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с карты по bbox через Earth Engine или вручную через папку data/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F01CF9-4F5D-4A93-ACF5-CE5C6B4E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9337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1FC31-9B5E-46E5-972D-987566E7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9337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0FF983-75CB-4F05-B3C1-F6ACADBC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31051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7D8"/>
                </a:solidFill>
              </a:defRPr>
            </a:pPr>
            <a:r>
              <a:rPr sz="1275" b="1">
                <a:solidFill>
                  <a:srgbClr val="48C7D8"/>
                </a:solidFill>
              </a:rPr>
              <a:t>Структура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F1BF8D-BC4A-495E-A5FD-246D472E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3467100"/>
            <a:ext cx="4343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GeoTIFF: пиксельная матрица, CRS, transform, одна или несколько полос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7C0E9-5A7D-496A-8E6E-14DF8C1A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4577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23BEF-2E11-46B1-8DB4-D5ECE588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4577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3A6CA7-F9F2-41B5-90B1-8B0216DE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6291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B84A"/>
                </a:solidFill>
              </a:defRPr>
            </a:pPr>
            <a:r>
              <a:rPr sz="1275" b="1">
                <a:solidFill>
                  <a:srgbClr val="E8B84A"/>
                </a:solidFill>
              </a:rPr>
              <a:t>Назначение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D32720-3BE4-47FA-BD20-204D5679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991100"/>
            <a:ext cx="4343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получить тайлы, маски, координаты и векторный контур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B09385-08E7-4B64-8AAB-4C56F3C8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44577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2BC8BA-D292-4EC5-8328-3AB28FB9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44577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51C083-732F-4363-8D39-0E3E2CD8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46291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7B63"/>
                </a:solidFill>
              </a:defRPr>
            </a:pPr>
            <a:r>
              <a:rPr sz="1275" b="1">
                <a:solidFill>
                  <a:srgbClr val="FF7B63"/>
                </a:solidFill>
              </a:rPr>
              <a:t>Почему большие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3AB69D-3EFF-40DA-9B69-EBAE2AC4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4991100"/>
            <a:ext cx="4343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мелкое разрешение, большая площадь, float-значения, производные тайлы и маски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E49B7C-2095-41D3-BE39-81633ABC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990600"/>
            <a:ext cx="1428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3E2F45-4CE0-49F2-9636-09320160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1162050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20F"/>
                </a:solidFill>
              </a:defRPr>
            </a:pPr>
            <a:r>
              <a:rPr sz="2550" b="1">
                <a:solidFill>
                  <a:srgbClr val="07120F"/>
                </a:solidFill>
              </a:rPr>
              <a:t>10 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9BC1F6-31DD-4677-8443-2105565A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16573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82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B33"/>
                </a:solidFill>
              </a:defRPr>
            </a:pPr>
            <a:r>
              <a:rPr sz="1050" b="0">
                <a:solidFill>
                  <a:srgbClr val="243B33"/>
                </a:solidFill>
              </a:rPr>
              <a:t>типичный scale при скачивании Sentinel-1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473BBC-70D4-47BC-9DAB-6C8D7B39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18859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6B41B1-4C6C-46EF-8F10-D34FDE5A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990600"/>
            <a:ext cx="1428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49951F-BACD-4AA2-AF6D-F761D13C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1162050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20F"/>
                </a:solidFill>
              </a:defRPr>
            </a:pPr>
            <a:r>
              <a:rPr sz="2550" b="1">
                <a:solidFill>
                  <a:srgbClr val="07120F"/>
                </a:solidFill>
              </a:rPr>
              <a:t>1000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3B8447-3F55-4107-8D02-07540C2A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16573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B33"/>
                </a:solidFill>
              </a:defRPr>
            </a:pPr>
            <a:r>
              <a:rPr sz="1050" b="0">
                <a:solidFill>
                  <a:srgbClr val="243B33"/>
                </a:solidFill>
              </a:rPr>
              <a:t>размер тайла в пикселях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50943D-A231-4D03-86D0-3FD1B700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8859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909555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AE7F7-9949-4AFF-BC1F-3A9499D1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95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071FA-3D59-415F-9085-0A8B3692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86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AB45D-E826-40E0-B522-BE96B435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3335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3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2A8EF-9D11-4CC0-B214-D16E75A4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A19B1-3810-4AB9-B51D-EB1FF783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CE4A7-8F24-48A1-9CC9-A5E378D4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B1140-8F48-4D67-BFCB-6BA88FCA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AA174-DB64-43D9-97C6-766AC11E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70107-EF6A-4AA3-A1C3-801A9B3C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30EA4-A242-45A1-89A4-29382A78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00385-B5C2-454E-821E-E2099E37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57200"/>
            <a:ext cx="112014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4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36F4D-55B3-41AF-9E98-3E9EAE8E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</a:defRPr>
            </a:pPr>
            <a:r>
              <a:rPr sz="975" b="1">
                <a:solidFill>
                  <a:srgbClr val="39D98A"/>
                </a:solidFill>
              </a:rPr>
              <a:t>АЛГОРИТМЫ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2A6E8-D2F9-45D7-8A0E-B3D3C8E8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00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7BA"/>
                </a:solidFill>
              </a:defRPr>
            </a:pPr>
            <a:r>
              <a:rPr sz="975" b="1">
                <a:solidFill>
                  <a:srgbClr val="B7C7BA"/>
                </a:solidFill>
              </a:rPr>
              <a:t>12 /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F9E50-92F8-45C6-AD40-F8668598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65D70-C684-4DEB-A68B-24D1BBC5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144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5EA"/>
                </a:solidFill>
              </a:defRPr>
            </a:pPr>
            <a:r>
              <a:rPr sz="2925" b="1">
                <a:solidFill>
                  <a:srgbClr val="F8F5EA"/>
                </a:solidFill>
              </a:rPr>
              <a:t>Конвейер обработки и масштабирование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60DCF-5B2A-40FE-802C-0FAD19FC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BA"/>
                </a:solidFill>
              </a:defRPr>
            </a:pPr>
            <a:r>
              <a:rPr sz="1350" b="0">
                <a:solidFill>
                  <a:srgbClr val="B7C7BA"/>
                </a:solidFill>
              </a:rPr>
              <a:t>Ключевая идея: снимок разбивается на независимые тайлы, а несколько снимков распределяются между Spark worker.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34BC6-B658-4C0A-99AB-BAA09577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9337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14288">
            <a:solidFill>
              <a:srgbClr val="39D9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307FB-F166-4342-82FA-81F6548C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1051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8F5EA"/>
                </a:solidFill>
              </a:defRPr>
            </a:pPr>
            <a:r>
              <a:rPr sz="938" b="1">
                <a:solidFill>
                  <a:srgbClr val="F8F5EA"/>
                </a:solidFill>
              </a:rPr>
              <a:t>валидные тайлы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C91774-8086-48A6-90B8-D23113A7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307657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24F77D-2BF1-4CEC-8CA4-2B7A6604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29337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14288">
            <a:solidFill>
              <a:srgbClr val="48C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E10C10-53BE-4CD8-9807-3E107E39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31051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8F5EA"/>
                </a:solidFill>
              </a:defRPr>
            </a:pPr>
            <a:r>
              <a:rPr sz="938" b="1">
                <a:solidFill>
                  <a:srgbClr val="F8F5EA"/>
                </a:solidFill>
              </a:rPr>
              <a:t>percentile min/max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E819B-5E17-44BF-9DDF-98AB77FC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7150" y="307657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44F469-D2E3-4056-AD83-835023E1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29337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14288">
            <a:solidFill>
              <a:srgbClr val="E8B8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2564E-FB03-4417-96A8-8A21A17C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31051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8F5EA"/>
                </a:solidFill>
              </a:defRPr>
            </a:pPr>
            <a:r>
              <a:rPr sz="938" b="1">
                <a:solidFill>
                  <a:srgbClr val="F8F5EA"/>
                </a:solidFill>
              </a:rPr>
              <a:t>нормализация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F8A484-E661-4A34-ADA3-70B6959C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307657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00746A-4509-4BE8-A665-A37A416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29337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14288">
            <a:solidFill>
              <a:srgbClr val="FF7B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0BC1A4-F36C-4F07-8729-23D49563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1051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8F5EA"/>
                </a:solidFill>
              </a:defRPr>
            </a:pPr>
            <a:r>
              <a:rPr sz="938" b="1">
                <a:solidFill>
                  <a:srgbClr val="F8F5EA"/>
                </a:solidFill>
              </a:rPr>
              <a:t>сегментация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4C2912-3E60-4565-8249-444C6009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307657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300E97-CC04-4275-9D1D-9F144F63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29337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14288">
            <a:solidFill>
              <a:srgbClr val="64A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EBADAD-DD51-4492-A53F-EB4940DE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31051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8F5EA"/>
                </a:solidFill>
              </a:defRPr>
            </a:pPr>
            <a:r>
              <a:rPr sz="938" b="1">
                <a:solidFill>
                  <a:srgbClr val="F8F5EA"/>
                </a:solidFill>
              </a:rPr>
              <a:t>контуры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F625BE-5358-4A89-954C-6BF94FB0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307657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7D1F93-0593-48B1-836B-619E1C84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29337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14288">
            <a:solidFill>
              <a:srgbClr val="39D9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D4C366-E81D-4FB3-982C-34B5D7E7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31051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8F5EA"/>
                </a:solidFill>
              </a:defRPr>
            </a:pPr>
            <a:r>
              <a:rPr sz="938" b="1">
                <a:solidFill>
                  <a:srgbClr val="F8F5EA"/>
                </a:solidFill>
              </a:rPr>
              <a:t>shapefile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A443F7-6130-4E1E-BB38-198DC3E4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9575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C1879B-92B4-48B4-B560-96B14C7E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957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876260-35AA-4B6B-A49B-64206992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2672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</a:defRPr>
            </a:pPr>
            <a:r>
              <a:rPr sz="1275" b="1">
                <a:solidFill>
                  <a:srgbClr val="39D98A"/>
                </a:solidFill>
              </a:rPr>
              <a:t>Почему масштабируется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08CC5D-6304-42A1-97CE-10A7D97D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6291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Операции по тайлам и снимкам независимы. Spark распределяет снимки между worker, а MinIO снимает зависимость от локальной файловой системы.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131D65-3D4D-4F58-8605-E00F1064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409575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5E3991-256C-45D3-A952-B6E057FB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40957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DCA4A5-99AE-44A4-9841-ED9918A8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42672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7D8"/>
                </a:solidFill>
              </a:defRPr>
            </a:pPr>
            <a:r>
              <a:rPr sz="1275" b="1">
                <a:solidFill>
                  <a:srgbClr val="48C7D8"/>
                </a:solidFill>
              </a:rPr>
              <a:t>Сложность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6AC511-F73F-4003-B4B3-78E3A823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46291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Основной проход зависит от числа пикселей и тайлов: O(N_pixels) + O(N_tiles). Поэтому при росте данных время растёт близко к линейному.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A93A55-78A7-4334-9118-4D37C7E3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3848100"/>
            <a:ext cx="40005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7658100" y="4038600"/>
          <a:ext xmlns:a="http://schemas.openxmlformats.org/drawingml/2006/main" cx="35433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91f20921fc4ad9"/>
          </a:graphicData>
        </a:graphic>
      </p:graphicFrame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39F0C6-F28A-408D-A014-BE06321B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5810250"/>
            <a:ext cx="3695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F8276"/>
                </a:solidFill>
              </a:defRPr>
            </a:pPr>
            <a:r>
              <a:rPr sz="675" b="0">
                <a:solidFill>
                  <a:srgbClr val="6F8276"/>
                </a:solidFill>
              </a:rPr>
              <a:t>Демонстрационные значения для защиты; финальные цифры заменяются фактическим прогоном.</a:t>
            </a:r>
          </a:p>
        </p:txBody>
      </p:sp>
    </p:spTree>
    <p:extLst>
      <p:ext uri="{BB962C8B-B14F-4D97-AF65-F5344CB8AC3E}">
        <p14:creationId xmlns:p14="http://schemas.microsoft.com/office/powerpoint/2010/main" val="11661783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01E7C-B645-40D9-A042-8BC93E6D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95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139AF-71B7-4665-90EC-3F913816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86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922C6-FEBE-4A88-BF31-D7D5BB3B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3335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3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29A3F-4D42-4FF7-A0A0-25AE3B0A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D2E63-613A-4362-8C67-0506A17B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72F0E-980D-486E-9917-74F2513B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5FF98-0EA6-49D5-8555-208C3D20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E9597-5F38-4FBC-AEE7-E06F190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2ADDB-91BF-4B77-BB34-3E15E54A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6F4AE-B90C-4212-8809-B0D04660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44AC3-ED6E-407A-8AFE-2A024021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57200"/>
            <a:ext cx="112014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4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7551F-D56B-49AA-A06F-1020D7D0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</a:defRPr>
            </a:pPr>
            <a:r>
              <a:rPr sz="975" b="1">
                <a:solidFill>
                  <a:srgbClr val="39D98A"/>
                </a:solidFill>
              </a:rPr>
              <a:t>ДАШБОРД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4AB07-C2B5-48C5-A5D1-BDFDD319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00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7BA"/>
                </a:solidFill>
              </a:defRPr>
            </a:pPr>
            <a:r>
              <a:rPr sz="975" b="1">
                <a:solidFill>
                  <a:srgbClr val="B7C7BA"/>
                </a:solidFill>
              </a:rPr>
              <a:t>13 /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8A1D8-A38E-4D2E-AC8D-689CC759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98716-D9D3-459A-A9D9-A9C29551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144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5EA"/>
                </a:solidFill>
              </a:defRPr>
            </a:pPr>
            <a:r>
              <a:rPr sz="2925" b="1">
                <a:solidFill>
                  <a:srgbClr val="F8F5EA"/>
                </a:solidFill>
              </a:rPr>
              <a:t>Веб-карта и назначение дашборда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51E61-B293-4E8C-A0B1-F4428767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BA"/>
                </a:solidFill>
              </a:defRPr>
            </a:pPr>
            <a:r>
              <a:rPr sz="1350" b="0">
                <a:solidFill>
                  <a:srgbClr val="B7C7BA"/>
                </a:solidFill>
              </a:rPr>
              <a:t>Дашборд нужен не только для демонстрации, но и как рабочий интерфейс контроля обработанных снимков.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26C29-7CC9-40EE-8623-9F83E55B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7051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EFE3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4F478-D01F-4F46-A6AB-B97F6524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29718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20F"/>
                </a:solidFill>
              </a:defRPr>
            </a:pPr>
            <a:r>
              <a:rPr sz="1425" b="1">
                <a:solidFill>
                  <a:srgbClr val="07120F"/>
                </a:solidFill>
              </a:rPr>
              <a:t>Список снимков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1DFCA-ECED-4A27-813A-12851FA5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390900"/>
            <a:ext cx="2419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8D470-8C99-4B57-B56E-D8057CAB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346710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7120F"/>
                </a:solidFill>
              </a:defRPr>
            </a:pPr>
            <a:r>
              <a:rPr sz="938" b="1">
                <a:solidFill>
                  <a:srgbClr val="07120F"/>
                </a:solidFill>
              </a:rPr>
              <a:t>sentinel1_20221227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13E2CB-4FF6-4C9E-9FE3-20B538A7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867150"/>
            <a:ext cx="2419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3C752C-0B7E-4363-B505-04528D7E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39433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33D35"/>
                </a:solidFill>
              </a:defRPr>
            </a:pPr>
            <a:r>
              <a:rPr sz="938" b="0">
                <a:solidFill>
                  <a:srgbClr val="233D35"/>
                </a:solidFill>
              </a:rPr>
              <a:t>тайлы: 35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53DB49-FA25-4A8B-B092-903E1516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343400"/>
            <a:ext cx="2419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BC5B54-2F2D-4750-BC99-20B7477A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41960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33D35"/>
                </a:solidFill>
              </a:defRPr>
            </a:pPr>
            <a:r>
              <a:rPr sz="938" b="0">
                <a:solidFill>
                  <a:srgbClr val="233D35"/>
                </a:solidFill>
              </a:rPr>
              <a:t>маска: GeoJSON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A96F8A-E374-4815-A3E4-F04A832A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819650"/>
            <a:ext cx="2419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993D08-D40F-4FEC-9CF5-D8A9F58C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8958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33D35"/>
                </a:solidFill>
              </a:defRPr>
            </a:pPr>
            <a:r>
              <a:rPr sz="938" b="0">
                <a:solidFill>
                  <a:srgbClr val="233D35"/>
                </a:solidFill>
              </a:rPr>
              <a:t>скачать shapefile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D53661-5FAA-4174-B856-7BC70C0F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2705100"/>
            <a:ext cx="66103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E211C"/>
          </a:solidFill>
          <a:ln xmlns:a="http://schemas.openxmlformats.org/drawingml/2006/main" w="11430">
            <a:solidFill>
              <a:srgbClr val="48C7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BEE2EF-755D-4548-BC48-64F86A52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3162300"/>
            <a:ext cx="114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83C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AD9916-9D99-4315-A2A8-8167DFEE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700" y="3562350"/>
            <a:ext cx="114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83C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430131-9F9C-4D4C-856B-59B1AF06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3162300"/>
            <a:ext cx="114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83C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E3CACE-AB7A-4ED2-AC40-D90E6D6D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3562350"/>
            <a:ext cx="114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83C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04713-4E86-4CE9-9819-FA29585E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3162300"/>
            <a:ext cx="114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83C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8F9861-72B7-44B0-BE7E-29589B51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3448050"/>
            <a:ext cx="2476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>
              <a:alpha val="33333"/>
            </a:srgbClr>
          </a:solidFill>
          <a:ln xmlns:a="http://schemas.openxmlformats.org/drawingml/2006/main" w="19050">
            <a:solidFill>
              <a:srgbClr val="39D9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69B4C7-F776-48EF-A8F8-A2493940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47244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5EA"/>
                </a:solidFill>
              </a:defRPr>
            </a:pPr>
            <a:r>
              <a:rPr sz="1350" b="1">
                <a:solidFill>
                  <a:srgbClr val="F8F5EA"/>
                </a:solidFill>
              </a:rPr>
              <a:t>Leaflet карта</a:t>
            </a:r>
          </a:p>
          <a:p xmlns:a="http://schemas.openxmlformats.org/drawingml/2006/main">
            <a:pPr algn="ctr">
              <a:defRPr sz="1350" b="1">
                <a:solidFill>
                  <a:srgbClr val="F8F5EA"/>
                </a:solidFill>
              </a:defRPr>
            </a:pPr>
            <a:r>
              <a:rPr sz="1350" b="1">
                <a:solidFill>
                  <a:srgbClr val="F8F5EA"/>
                </a:solidFill>
              </a:rPr>
              <a:t>тайлы + маски + слои</a:t>
            </a:r>
          </a:p>
        </p:txBody>
      </p:sp>
    </p:spTree>
    <p:extLst>
      <p:ext uri="{BB962C8B-B14F-4D97-AF65-F5344CB8AC3E}">
        <p14:creationId xmlns:p14="http://schemas.microsoft.com/office/powerpoint/2010/main" val="17379706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BD9AB-D3E2-4F6D-8E7D-9412B523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95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DCF65-EFAB-4421-B955-E5CDA592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86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50936-63CD-4303-B29A-40161B52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3335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3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58EF0-748F-4CD1-B090-A2A27E71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A47CD-CB9C-4673-A0FE-E80E6D0F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87A66-C493-46F7-909F-286980EE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A6BF8-D266-45AC-9A47-3B7930CE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F6FAF-D1FF-4939-ADAE-6DC78818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886CE-1477-451F-86B6-93ABDD96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6BB03-88AF-4241-8601-C16F4D1E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4FE1A-038E-46B7-A91F-93E13002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57200"/>
            <a:ext cx="112014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4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0AD77-F67C-4BAB-BF29-0617461C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</a:defRPr>
            </a:pPr>
            <a:r>
              <a:rPr sz="975" b="1">
                <a:solidFill>
                  <a:srgbClr val="39D98A"/>
                </a:solidFill>
              </a:rPr>
              <a:t>ДЕМОНСТРАЦИЯ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A786A-1FAD-41DD-923A-49D46088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00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7BA"/>
                </a:solidFill>
              </a:defRPr>
            </a:pPr>
            <a:r>
              <a:rPr sz="975" b="1">
                <a:solidFill>
                  <a:srgbClr val="B7C7BA"/>
                </a:solidFill>
              </a:rPr>
              <a:t>14 /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72A27-80B2-4D0B-BAE9-B769086F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A0423-A5A8-42ED-97B4-20D96757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144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5EA"/>
                </a:solidFill>
              </a:defRPr>
            </a:pPr>
            <a:r>
              <a:rPr sz="2925" b="1">
                <a:solidFill>
                  <a:srgbClr val="F8F5EA"/>
                </a:solidFill>
              </a:rPr>
              <a:t>Что показать на защите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54DAC6-4720-4D20-9CBC-E18AA859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BA"/>
                </a:solidFill>
              </a:defRPr>
            </a:pPr>
            <a:r>
              <a:rPr sz="1350" b="0">
                <a:solidFill>
                  <a:srgbClr val="B7C7BA"/>
                </a:solidFill>
              </a:rPr>
              <a:t>Демонстрация строится как короткий путь файла через систему: от области карты до shapefile результата.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294BE-B565-4D85-BD17-BB641BE9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800350"/>
            <a:ext cx="470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39D9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97894-B8D1-417C-8497-871C51B9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29622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98A"/>
                </a:solidFill>
              </a:defRPr>
            </a:pPr>
            <a:r>
              <a:rPr sz="1350" b="1">
                <a:solidFill>
                  <a:srgbClr val="39D98A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E2562-C087-42AA-9E19-44F41170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2933700"/>
            <a:ext cx="384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Открыть http://localhost:8000/map и выбрать область карты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9793D-70AF-4A7A-A57C-4C539FC8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050" y="2800350"/>
            <a:ext cx="470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48C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2476B-61FA-41FE-A32D-DCFA65FA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9622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8C7D8"/>
                </a:solidFill>
              </a:defRPr>
            </a:pPr>
            <a:r>
              <a:rPr sz="1350" b="1">
                <a:solidFill>
                  <a:srgbClr val="48C7D8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AB911-5AEB-4F6D-9C3F-DAAD9A54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933700"/>
            <a:ext cx="384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Нажать скачивание Sentinel-1 по текущему bbox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6F3077-076C-4B58-BE6A-B152A000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752850"/>
            <a:ext cx="470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E8B8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ADF89-6F35-4271-9BBD-BFCBE16A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9147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84A"/>
                </a:solidFill>
              </a:defRPr>
            </a:pPr>
            <a:r>
              <a:rPr sz="1350" b="1">
                <a:solidFill>
                  <a:srgbClr val="E8B84A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36B672-51E5-43F7-9645-944FDEDB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3886200"/>
            <a:ext cx="384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Показать появление файла в data/ и загрузку producer в MinIO raw/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1694EB-D622-42BF-825C-25758511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050" y="3752850"/>
            <a:ext cx="470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39D9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7F5646-93E6-4BB7-B403-F928C5FA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39147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98A"/>
                </a:solidFill>
              </a:defRPr>
            </a:pPr>
            <a:r>
              <a:rPr sz="1350" b="1">
                <a:solidFill>
                  <a:srgbClr val="39D98A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96BBE5-7731-40B1-93B3-C85C3190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3886200"/>
            <a:ext cx="384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Показать событие Kafka и работу Spark workers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A00AC4-64D5-428B-B7F6-BB6E4922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705350"/>
            <a:ext cx="470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48C7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C39988-6AC6-44AE-8329-53C4C697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8672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8C7D8"/>
                </a:solidFill>
              </a:defRPr>
            </a:pPr>
            <a:r>
              <a:rPr sz="1350" b="1">
                <a:solidFill>
                  <a:srgbClr val="48C7D8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F5D67B-5D5F-41D3-BB0D-61810917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4838700"/>
            <a:ext cx="384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Открыть карту: несколько снимков, тайлы, маски, скрытие слоёв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980C6F-B20B-4709-A7FD-63394766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050" y="4705350"/>
            <a:ext cx="470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E8B8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99590C-6352-44B1-8DDD-590707A1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48672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84A"/>
                </a:solidFill>
              </a:defRPr>
            </a:pPr>
            <a:r>
              <a:rPr sz="1350" b="1">
                <a:solidFill>
                  <a:srgbClr val="E8B84A"/>
                </a:solidFill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C4851B-1286-4452-AA39-D11D083C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4838700"/>
            <a:ext cx="384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Скачать shapefile конкретного снимка</a:t>
            </a:r>
          </a:p>
        </p:txBody>
      </p:sp>
    </p:spTree>
    <p:extLst>
      <p:ext uri="{BB962C8B-B14F-4D97-AF65-F5344CB8AC3E}">
        <p14:creationId xmlns:p14="http://schemas.microsoft.com/office/powerpoint/2010/main" val="1313188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91AB9-EFB1-4AF1-AB65-2B9D9C94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95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FDEF1-D9CE-4022-ADA2-CF0D0231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86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D0FFD-7C8B-4387-9202-26ECF22E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3335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3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1149E-81A5-44F4-9756-A3EB8823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32F81-F6AD-488D-BB24-43E0C120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EDAD1-EE9E-4D0A-89BD-B685102F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988DC-F1D3-4E7E-9615-7DDF3B3E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72D84-0018-4EA7-8786-68064CC1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30CF5-DD4B-4471-BDC7-0947AB50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B6BA1-6953-4F5B-A20B-C9F669B8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BEDCD-360B-462D-9256-9001B17C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57200"/>
            <a:ext cx="112014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4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4E251-CDE1-4ED6-AD70-28A002CE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</a:defRPr>
            </a:pPr>
            <a:r>
              <a:rPr sz="975" b="1">
                <a:solidFill>
                  <a:srgbClr val="39D98A"/>
                </a:solidFill>
              </a:rPr>
              <a:t>РЕЗУЛЬТАТЫ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97E63-7D47-4A3B-A1BF-BC9C6A39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00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7BA"/>
                </a:solidFill>
              </a:defRPr>
            </a:pPr>
            <a:r>
              <a:rPr sz="975" b="1">
                <a:solidFill>
                  <a:srgbClr val="B7C7BA"/>
                </a:solidFill>
              </a:rPr>
              <a:t>15 /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1F69E-76A2-46EA-A369-DB3F0DE3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AD294-8FE4-423D-9250-2BEFA800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144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5EA"/>
                </a:solidFill>
              </a:defRPr>
            </a:pPr>
            <a:r>
              <a:rPr sz="2925" b="1">
                <a:solidFill>
                  <a:srgbClr val="F8F5EA"/>
                </a:solidFill>
              </a:rPr>
              <a:t>Результаты и выводы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CBBE2-C22E-4551-9F00-7E56B8EF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BA"/>
                </a:solidFill>
              </a:defRPr>
            </a:pPr>
            <a:r>
              <a:rPr sz="1350" b="0">
                <a:solidFill>
                  <a:srgbClr val="B7C7BA"/>
                </a:solidFill>
              </a:rPr>
              <a:t>Проект демонстрирует готовый сервисный каркас для обработки спутниковых снимков и последующего подключения ИИ-модели.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206E5-B2A6-4451-AA74-EECB68C3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857500"/>
            <a:ext cx="3257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B7192-7FF8-450F-A549-EE57D7D4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857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FA8E1E-CD99-4A28-BA47-EBEABCBD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0289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</a:defRPr>
            </a:pPr>
            <a:r>
              <a:rPr sz="1275" b="1">
                <a:solidFill>
                  <a:srgbClr val="39D98A"/>
                </a:solidFill>
              </a:rPr>
              <a:t>Минимальный стек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0E131-F2BE-4AE9-A36F-30A92E62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3909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удалены лишние сервисы, оставлен рабочий контур обработки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9E60A-8F91-4529-BE03-C7DED156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857500"/>
            <a:ext cx="3257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9ED99-15B8-4841-B980-8BD74AE6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857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2FBD5-0981-4495-955E-DB8D6F67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30289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7D8"/>
                </a:solidFill>
              </a:defRPr>
            </a:pPr>
            <a:r>
              <a:rPr sz="1275" b="1">
                <a:solidFill>
                  <a:srgbClr val="48C7D8"/>
                </a:solidFill>
              </a:rPr>
              <a:t>Автоматический ingest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DA69BB-583C-4C02-A0A7-DEC472DD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33909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producer загружает GeoTIFF в MinIO и отправляет событие Kafka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BC5B5D-604F-433C-A8F6-F48542FF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2857500"/>
            <a:ext cx="3257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CE1CCF-74A6-479D-AFB5-D56D2748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2857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B4CB2D-8D24-4C1A-BBD6-4047800A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30289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B84A"/>
                </a:solidFill>
              </a:defRPr>
            </a:pPr>
            <a:r>
              <a:rPr sz="1275" b="1">
                <a:solidFill>
                  <a:srgbClr val="E8B84A"/>
                </a:solidFill>
              </a:rPr>
              <a:t>Параллельный Spark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FCC99F-6F58-4E07-89CD-59C18F03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33909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количество обработчиков вынесено в PROCESSOR_WORKERS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21CAED-05AA-4EF5-9E92-A4FDA08F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324350"/>
            <a:ext cx="3257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8DC078-2ECF-4FC5-8FCA-B8B569E8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3243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E4DB61-F8DD-49E2-97C2-2A635C6F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4958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</a:defRPr>
            </a:pPr>
            <a:r>
              <a:rPr sz="1275" b="1">
                <a:solidFill>
                  <a:srgbClr val="39D98A"/>
                </a:solidFill>
              </a:rPr>
              <a:t>Раздельные результаты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D619BB-F27B-478A-96F7-1BAA89F8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85775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shapefile сохраняется отдельно для каждого снимка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90FB1F-C678-4C9E-BF14-BC518BDC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4324350"/>
            <a:ext cx="3257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B0917A-BA40-44FE-9E18-EF743885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43243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445317-7B0D-416F-BFB7-871C79AF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44958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7D8"/>
                </a:solidFill>
              </a:defRPr>
            </a:pPr>
            <a:r>
              <a:rPr sz="1275" b="1">
                <a:solidFill>
                  <a:srgbClr val="48C7D8"/>
                </a:solidFill>
              </a:rPr>
              <a:t>Веб-карта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B5B941-7B0E-4039-B45D-4E88E203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485775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показывает несколько снимков, тайлы и GeoJSON-маски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222A86-6609-428B-AE1F-3B0A7809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4324350"/>
            <a:ext cx="3257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51F">
              <a:alpha val="93725"/>
            </a:srgbClr>
          </a:solidFill>
          <a:ln xmlns:a="http://schemas.openxmlformats.org/drawingml/2006/main" w="11430">
            <a:solidFill>
              <a:srgbClr val="2C5A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E83354-36F0-4B14-B5B7-92ED8FBE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43243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BF695B-AE24-4782-9EBF-934FB33B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44958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B84A"/>
                </a:solidFill>
              </a:defRPr>
            </a:pPr>
            <a:r>
              <a:rPr sz="1275" b="1">
                <a:solidFill>
                  <a:srgbClr val="E8B84A"/>
                </a:solidFill>
              </a:rPr>
              <a:t>Учёт статусов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1EC861-686D-47DF-8AF8-F06C1573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485775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A"/>
                </a:solidFill>
              </a:defRPr>
            </a:pPr>
            <a:r>
              <a:rPr sz="1125" b="0">
                <a:solidFill>
                  <a:srgbClr val="F8F5EA"/>
                </a:solidFill>
              </a:rPr>
              <a:t>PostgreSQL и MinIO-маркеры предотвращают повторную обработку</a:t>
            </a:r>
          </a:p>
        </p:txBody>
      </p:sp>
    </p:spTree>
    <p:extLst>
      <p:ext uri="{BB962C8B-B14F-4D97-AF65-F5344CB8AC3E}">
        <p14:creationId xmlns:p14="http://schemas.microsoft.com/office/powerpoint/2010/main" val="525316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3A005B-ECC5-42DA-9B5C-ECF89D322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5A7B8-A8CA-427A-A43A-5A7CEB80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95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16A1B-0232-453E-ACF0-FDBC1BF7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86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F4AF3-E9D1-462E-B7D9-5BE5F8C7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-1333500"/>
            <a:ext cx="4381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3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4D258-1AF9-49C8-BB0B-10A67C95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C6393-FAE0-41FA-AE23-C7BAF18D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765CB-E094-4D57-9EC8-D1325A6B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64527-2549-48CA-99D6-110E23A4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293A3-A248-4738-A787-E20CF733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E9CAF-61A4-4299-8D37-EB67B198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DCE6D-A292-4414-99D3-0ECB33E2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6248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40B6A-FC92-4F59-B8AF-C00743E2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57200"/>
            <a:ext cx="112014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4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97C1B-2D49-454D-BC67-AA44213D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98A"/>
                </a:solidFill>
              </a:defRPr>
            </a:pPr>
            <a:r>
              <a:rPr sz="975" b="1">
                <a:solidFill>
                  <a:srgbClr val="39D98A"/>
                </a:solidFill>
              </a:rPr>
              <a:t>РАЗВИТИЕ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C8D6E-82C2-4F2D-8F65-95EEEB37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00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7BA"/>
                </a:solidFill>
              </a:defRPr>
            </a:pPr>
            <a:r>
              <a:rPr sz="975" b="1">
                <a:solidFill>
                  <a:srgbClr val="B7C7BA"/>
                </a:solidFill>
              </a:rPr>
              <a:t>16 /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9236F-D7D0-4EFD-8C84-4FF189A1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68441-DB5A-433F-8327-A0E6769F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144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5EA"/>
                </a:solidFill>
              </a:defRPr>
            </a:pPr>
            <a:r>
              <a:rPr sz="2925" b="1">
                <a:solidFill>
                  <a:srgbClr val="F8F5EA"/>
                </a:solidFill>
              </a:rPr>
              <a:t>Планы развития и масштабирования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8D0C6-B1F5-4AE9-A8F4-B17D3ECE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7BA"/>
                </a:solidFill>
              </a:defRPr>
            </a:pPr>
            <a:r>
              <a:rPr sz="1350" b="0">
                <a:solidFill>
                  <a:srgbClr val="B7C7BA"/>
                </a:solidFill>
              </a:rPr>
              <a:t>Следующий шаг — усилить ИИ-часть, наблюдаемость и промышленную устойчивость сервиса.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09AC39-6FE9-45D7-A52D-509DD80D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082B4-098E-4398-9243-A14187E2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30861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20F"/>
                </a:solidFill>
              </a:defRPr>
            </a:pPr>
            <a:r>
              <a:rPr sz="1650" b="1">
                <a:solidFill>
                  <a:srgbClr val="07120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8FFA5-AF3A-4B3C-A8F0-979D4C4E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3257550"/>
            <a:ext cx="1162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449D7-0DEF-486A-A181-E28F055C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0005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5EA"/>
                </a:solidFill>
              </a:defRPr>
            </a:pPr>
            <a:r>
              <a:rPr sz="1275" b="1">
                <a:solidFill>
                  <a:srgbClr val="F8F5EA"/>
                </a:solidFill>
              </a:rPr>
              <a:t>ИИ-сегментация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B80A28-0B50-43C9-B10C-9AC561F4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438650"/>
            <a:ext cx="1638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7C7BA"/>
                </a:solidFill>
              </a:defRPr>
            </a:pPr>
            <a:r>
              <a:rPr sz="975" b="0">
                <a:solidFill>
                  <a:srgbClr val="B7C7BA"/>
                </a:solidFill>
              </a:rPr>
              <a:t>подключить финальные веса модели и версионирование экспериментов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34A8B-E361-4A27-AB75-30FEA3B3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CC3C5-C92E-4C49-A239-E5CD43F8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30861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20F"/>
                </a:solidFill>
              </a:defRPr>
            </a:pPr>
            <a:r>
              <a:rPr sz="1650" b="1">
                <a:solidFill>
                  <a:srgbClr val="07120F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FDAAFD-7F08-4E41-A337-CAED2EC2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3257550"/>
            <a:ext cx="1162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362F1B-8D2B-49F2-AC3E-69627ED3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40005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5EA"/>
                </a:solidFill>
              </a:defRPr>
            </a:pPr>
            <a:r>
              <a:rPr sz="1275" b="1">
                <a:solidFill>
                  <a:srgbClr val="F8F5EA"/>
                </a:solidFill>
              </a:rPr>
              <a:t>Мониторинг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5B793A-A51A-4B10-8BE4-EB618FF7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438650"/>
            <a:ext cx="1638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7C7BA"/>
                </a:solidFill>
              </a:defRPr>
            </a:pPr>
            <a:r>
              <a:rPr sz="975" b="0">
                <a:solidFill>
                  <a:srgbClr val="B7C7BA"/>
                </a:solidFill>
              </a:rPr>
              <a:t>метрики Kafka/Spark/MinIO, алерты и трассировка задач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191D1F-760E-4E22-B96A-A5A5E87B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4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0CEC51-FB74-4311-96A9-DA0823FB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450" y="30861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20F"/>
                </a:solidFill>
              </a:defRPr>
            </a:pPr>
            <a:r>
              <a:rPr sz="1650" b="1">
                <a:solidFill>
                  <a:srgbClr val="07120F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EF6237-21D2-4503-8D1D-1522EA4D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3257550"/>
            <a:ext cx="1162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184678-4181-48B3-9409-9710FD5D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40005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5EA"/>
                </a:solidFill>
              </a:defRPr>
            </a:pPr>
            <a:r>
              <a:rPr sz="1275" b="1">
                <a:solidFill>
                  <a:srgbClr val="F8F5EA"/>
                </a:solidFill>
              </a:rPr>
              <a:t>Масштабирование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9866C3-AF42-45ED-85AB-C3A1C210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4438650"/>
            <a:ext cx="1638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7C7BA"/>
                </a:solidFill>
              </a:defRPr>
            </a:pPr>
            <a:r>
              <a:rPr sz="975" b="0">
                <a:solidFill>
                  <a:srgbClr val="B7C7BA"/>
                </a:solidFill>
              </a:rPr>
              <a:t>увеличение Spark worker, распределённое хранение и очереди с retry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C2AD51-2E52-4E39-90CF-3AA7AB3E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B9ADE1-948C-44D6-BF75-87247E6E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30861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20F"/>
                </a:solidFill>
              </a:defRPr>
            </a:pPr>
            <a:r>
              <a:rPr sz="1650" b="1">
                <a:solidFill>
                  <a:srgbClr val="07120F"/>
                </a:solidFill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BEC36B-A797-4507-BFE6-588DF437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3257550"/>
            <a:ext cx="1162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ADD2E6-89C7-483D-8F0F-3B68F662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40005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5EA"/>
                </a:solidFill>
              </a:defRPr>
            </a:pPr>
            <a:r>
              <a:rPr sz="1275" b="1">
                <a:solidFill>
                  <a:srgbClr val="F8F5EA"/>
                </a:solidFill>
              </a:rPr>
              <a:t>Качество данных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198B86-C843-4C8B-8CFF-1A53CB80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4650" y="4438650"/>
            <a:ext cx="1638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7C7BA"/>
                </a:solidFill>
              </a:defRPr>
            </a:pPr>
            <a:r>
              <a:rPr sz="975" b="0">
                <a:solidFill>
                  <a:srgbClr val="B7C7BA"/>
                </a:solidFill>
              </a:rPr>
              <a:t>валидация CRS, контроль пустых снимков, отчёты по ошибкам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C474B6-ECC0-4607-8973-EF4A41F7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76A88C-F215-4C8B-8F55-33331DE6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30861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20F"/>
                </a:solidFill>
              </a:defRPr>
            </a:pPr>
            <a:r>
              <a:rPr sz="1650" b="1">
                <a:solidFill>
                  <a:srgbClr val="07120F"/>
                </a:solidFill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E1C43D-87A6-42E9-9864-D8D4C3F4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3150" y="3257550"/>
            <a:ext cx="1162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7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B04B75-9C31-4E25-AFAA-86E9424F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9200" y="40005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5EA"/>
                </a:solidFill>
              </a:defRPr>
            </a:pPr>
            <a:r>
              <a:rPr sz="1275" b="1">
                <a:solidFill>
                  <a:srgbClr val="F8F5EA"/>
                </a:solidFill>
              </a:rPr>
              <a:t>API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4868C3-1E8C-4CAB-8023-92589205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4438650"/>
            <a:ext cx="1638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7C7BA"/>
                </a:solidFill>
              </a:defRPr>
            </a:pPr>
            <a:r>
              <a:rPr sz="975" b="0">
                <a:solidFill>
                  <a:srgbClr val="B7C7BA"/>
                </a:solidFill>
              </a:rPr>
              <a:t>поиск по координатам, датам, статусам и скачивание наборов результатов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55BEBA-8DCC-48AE-B3DE-761EFE7A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5619750"/>
            <a:ext cx="885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16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5EA"/>
                </a:solidFill>
              </a:defRPr>
            </a:pPr>
            <a:r>
              <a:rPr sz="1425" b="1">
                <a:solidFill>
                  <a:srgbClr val="F8F5EA"/>
                </a:solidFill>
              </a:rPr>
              <a:t>Финальная идея: сервис уже работает как платформа, которую можно усиливать моделью, наблюдаемостью и горизонтальным масштабированием.</a:t>
            </a:r>
          </a:p>
        </p:txBody>
      </p:sp>
    </p:spTree>
    <p:extLst>
      <p:ext uri="{BB962C8B-B14F-4D97-AF65-F5344CB8AC3E}">
        <p14:creationId xmlns:p14="http://schemas.microsoft.com/office/powerpoint/2010/main" val="837221512"/>
      </p:ext>
    </p:extLst>
  </p:cSld>
</p:sld>
</file>

<file path=ppt/theme/theme1.xml><?xml version="1.0" encoding="utf-8"?>
<a:theme xmlns:a="http://schemas.openxmlformats.org/drawingml/2006/main" name="Satellite Service">
  <a:themeElements>
    <a:clrScheme name="Satellite Service">
      <a:accent1>
        <a:srgbClr val="39D98A"/>
      </a:accent1>
      <a:accent2>
        <a:srgbClr val="48C7D8"/>
      </a:accent2>
      <a:accent3>
        <a:srgbClr val="E8B84A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atellite Serv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2026-04-22T13:58:48.7710000Z</dcterms:created>
  <dcterms:modified xsi:type="dcterms:W3CDTF">2026-04-22T13:58:48.7720000Z</dcterms:modified>
</coreProperties>
</file>